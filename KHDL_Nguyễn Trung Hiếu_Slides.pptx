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grandir Bold" charset="1" panose="00000800000000000000"/>
      <p:regular r:id="rId20"/>
    </p:embeddedFont>
    <p:embeddedFont>
      <p:font typeface="Open Sauce" charset="1" panose="00000500000000000000"/>
      <p:regular r:id="rId21"/>
    </p:embeddedFont>
    <p:embeddedFont>
      <p:font typeface="Open Sauce Bold" charset="1" panose="00000800000000000000"/>
      <p:regular r:id="rId22"/>
    </p:embeddedFont>
    <p:embeddedFont>
      <p:font typeface="Open Sauce Bold Italics"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4.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582217" y="8570535"/>
            <a:ext cx="697121" cy="840385"/>
          </a:xfrm>
          <a:custGeom>
            <a:avLst/>
            <a:gdLst/>
            <a:ahLst/>
            <a:cxnLst/>
            <a:rect r="r" b="b" t="t" l="l"/>
            <a:pathLst>
              <a:path h="840385" w="697121">
                <a:moveTo>
                  <a:pt x="0" y="0"/>
                </a:moveTo>
                <a:lnTo>
                  <a:pt x="697121" y="0"/>
                </a:lnTo>
                <a:lnTo>
                  <a:pt x="697121" y="840385"/>
                </a:lnTo>
                <a:lnTo>
                  <a:pt x="0" y="840385"/>
                </a:lnTo>
                <a:lnTo>
                  <a:pt x="0" y="0"/>
                </a:lnTo>
                <a:close/>
              </a:path>
            </a:pathLst>
          </a:custGeom>
          <a:blipFill>
            <a:blip r:embed="rId2"/>
            <a:stretch>
              <a:fillRect l="0" t="0" r="0" b="0"/>
            </a:stretch>
          </a:blipFill>
          <a:ln cap="sq">
            <a:noFill/>
            <a:prstDash val="solid"/>
            <a:miter/>
          </a:ln>
        </p:spPr>
      </p:sp>
      <p:sp>
        <p:nvSpPr>
          <p:cNvPr name="Freeform 3" id="3"/>
          <p:cNvSpPr/>
          <p:nvPr/>
        </p:nvSpPr>
        <p:spPr>
          <a:xfrm flipH="false" flipV="false" rot="0">
            <a:off x="1528623" y="276111"/>
            <a:ext cx="1886225" cy="7941999"/>
          </a:xfrm>
          <a:custGeom>
            <a:avLst/>
            <a:gdLst/>
            <a:ahLst/>
            <a:cxnLst/>
            <a:rect r="r" b="b" t="t" l="l"/>
            <a:pathLst>
              <a:path h="7941999" w="1886225">
                <a:moveTo>
                  <a:pt x="0" y="0"/>
                </a:moveTo>
                <a:lnTo>
                  <a:pt x="1886224" y="0"/>
                </a:lnTo>
                <a:lnTo>
                  <a:pt x="1886224" y="7941999"/>
                </a:lnTo>
                <a:lnTo>
                  <a:pt x="0" y="7941999"/>
                </a:lnTo>
                <a:lnTo>
                  <a:pt x="0" y="0"/>
                </a:lnTo>
                <a:close/>
              </a:path>
            </a:pathLst>
          </a:custGeom>
          <a:blipFill>
            <a:blip r:embed="rId3"/>
            <a:stretch>
              <a:fillRect l="0" t="0" r="0" b="0"/>
            </a:stretch>
          </a:blipFill>
          <a:ln cap="sq">
            <a:noFill/>
            <a:prstDash val="solid"/>
            <a:miter/>
          </a:ln>
        </p:spPr>
      </p:sp>
      <p:sp>
        <p:nvSpPr>
          <p:cNvPr name="Freeform 4" id="4"/>
          <p:cNvSpPr/>
          <p:nvPr/>
        </p:nvSpPr>
        <p:spPr>
          <a:xfrm flipH="false" flipV="false" rot="0">
            <a:off x="14392476" y="4095073"/>
            <a:ext cx="2256540" cy="1206532"/>
          </a:xfrm>
          <a:custGeom>
            <a:avLst/>
            <a:gdLst/>
            <a:ahLst/>
            <a:cxnLst/>
            <a:rect r="r" b="b" t="t" l="l"/>
            <a:pathLst>
              <a:path h="1206532" w="2256540">
                <a:moveTo>
                  <a:pt x="0" y="0"/>
                </a:moveTo>
                <a:lnTo>
                  <a:pt x="2256540" y="0"/>
                </a:lnTo>
                <a:lnTo>
                  <a:pt x="2256540" y="1206532"/>
                </a:lnTo>
                <a:lnTo>
                  <a:pt x="0" y="1206532"/>
                </a:lnTo>
                <a:lnTo>
                  <a:pt x="0" y="0"/>
                </a:lnTo>
                <a:close/>
              </a:path>
            </a:pathLst>
          </a:custGeom>
          <a:blipFill>
            <a:blip r:embed="rId4"/>
            <a:stretch>
              <a:fillRect l="0" t="0" r="0" b="0"/>
            </a:stretch>
          </a:blipFill>
          <a:ln cap="sq">
            <a:noFill/>
            <a:prstDash val="solid"/>
            <a:miter/>
          </a:ln>
        </p:spPr>
      </p:sp>
      <p:sp>
        <p:nvSpPr>
          <p:cNvPr name="Freeform 5" id="5"/>
          <p:cNvSpPr/>
          <p:nvPr/>
        </p:nvSpPr>
        <p:spPr>
          <a:xfrm flipH="false" flipV="false" rot="0">
            <a:off x="4552484" y="5611403"/>
            <a:ext cx="2100584" cy="2100584"/>
          </a:xfrm>
          <a:custGeom>
            <a:avLst/>
            <a:gdLst/>
            <a:ahLst/>
            <a:cxnLst/>
            <a:rect r="r" b="b" t="t" l="l"/>
            <a:pathLst>
              <a:path h="2100584" w="2100584">
                <a:moveTo>
                  <a:pt x="0" y="0"/>
                </a:moveTo>
                <a:lnTo>
                  <a:pt x="2100583" y="0"/>
                </a:lnTo>
                <a:lnTo>
                  <a:pt x="2100583" y="2100584"/>
                </a:lnTo>
                <a:lnTo>
                  <a:pt x="0" y="21005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6" id="6"/>
          <p:cNvSpPr/>
          <p:nvPr/>
        </p:nvSpPr>
        <p:spPr>
          <a:xfrm flipH="false" flipV="false" rot="0">
            <a:off x="12085502" y="4895690"/>
            <a:ext cx="6799376" cy="2532767"/>
          </a:xfrm>
          <a:custGeom>
            <a:avLst/>
            <a:gdLst/>
            <a:ahLst/>
            <a:cxnLst/>
            <a:rect r="r" b="b" t="t" l="l"/>
            <a:pathLst>
              <a:path h="2532767" w="6799376">
                <a:moveTo>
                  <a:pt x="0" y="0"/>
                </a:moveTo>
                <a:lnTo>
                  <a:pt x="6799376" y="0"/>
                </a:lnTo>
                <a:lnTo>
                  <a:pt x="6799376" y="2532768"/>
                </a:lnTo>
                <a:lnTo>
                  <a:pt x="0" y="2532768"/>
                </a:lnTo>
                <a:lnTo>
                  <a:pt x="0" y="0"/>
                </a:lnTo>
                <a:close/>
              </a:path>
            </a:pathLst>
          </a:custGeom>
          <a:blipFill>
            <a:blip r:embed="rId7"/>
            <a:stretch>
              <a:fillRect l="0" t="0" r="0" b="0"/>
            </a:stretch>
          </a:blipFill>
        </p:spPr>
      </p:sp>
      <p:sp>
        <p:nvSpPr>
          <p:cNvPr name="Freeform 7" id="7"/>
          <p:cNvSpPr/>
          <p:nvPr/>
        </p:nvSpPr>
        <p:spPr>
          <a:xfrm flipH="false" flipV="false" rot="0">
            <a:off x="3533246" y="2927154"/>
            <a:ext cx="425509" cy="574983"/>
          </a:xfrm>
          <a:custGeom>
            <a:avLst/>
            <a:gdLst/>
            <a:ahLst/>
            <a:cxnLst/>
            <a:rect r="r" b="b" t="t" l="l"/>
            <a:pathLst>
              <a:path h="574983" w="425509">
                <a:moveTo>
                  <a:pt x="0" y="0"/>
                </a:moveTo>
                <a:lnTo>
                  <a:pt x="425509" y="0"/>
                </a:lnTo>
                <a:lnTo>
                  <a:pt x="425509" y="574982"/>
                </a:lnTo>
                <a:lnTo>
                  <a:pt x="0" y="574982"/>
                </a:lnTo>
                <a:lnTo>
                  <a:pt x="0" y="0"/>
                </a:lnTo>
                <a:close/>
              </a:path>
            </a:pathLst>
          </a:custGeom>
          <a:blipFill>
            <a:blip r:embed="rId8"/>
            <a:stretch>
              <a:fillRect l="0" t="0" r="0" b="0"/>
            </a:stretch>
          </a:blipFill>
        </p:spPr>
      </p:sp>
      <p:sp>
        <p:nvSpPr>
          <p:cNvPr name="Freeform 8" id="8"/>
          <p:cNvSpPr/>
          <p:nvPr/>
        </p:nvSpPr>
        <p:spPr>
          <a:xfrm flipH="false" flipV="false" rot="0">
            <a:off x="13873683" y="-736495"/>
            <a:ext cx="2835550" cy="2835550"/>
          </a:xfrm>
          <a:custGeom>
            <a:avLst/>
            <a:gdLst/>
            <a:ahLst/>
            <a:cxnLst/>
            <a:rect r="r" b="b" t="t" l="l"/>
            <a:pathLst>
              <a:path h="2835550" w="2835550">
                <a:moveTo>
                  <a:pt x="0" y="0"/>
                </a:moveTo>
                <a:lnTo>
                  <a:pt x="2835550" y="0"/>
                </a:lnTo>
                <a:lnTo>
                  <a:pt x="2835550" y="2835551"/>
                </a:lnTo>
                <a:lnTo>
                  <a:pt x="0" y="28355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4436524" y="3951835"/>
            <a:ext cx="9414952" cy="2276475"/>
          </a:xfrm>
          <a:prstGeom prst="rect">
            <a:avLst/>
          </a:prstGeom>
        </p:spPr>
        <p:txBody>
          <a:bodyPr anchor="t" rtlCol="false" tIns="0" lIns="0" bIns="0" rIns="0">
            <a:spAutoFit/>
          </a:bodyPr>
          <a:lstStyle/>
          <a:p>
            <a:pPr algn="ctr" marL="0" indent="0" lvl="0">
              <a:lnSpc>
                <a:spcPts val="8400"/>
              </a:lnSpc>
            </a:pPr>
            <a:r>
              <a:rPr lang="en-US" b="true" sz="6000" spc="-120">
                <a:solidFill>
                  <a:srgbClr val="181D2B"/>
                </a:solidFill>
                <a:latin typeface="Agrandir Bold"/>
                <a:ea typeface="Agrandir Bold"/>
                <a:cs typeface="Agrandir Bold"/>
                <a:sym typeface="Agrandir Bold"/>
              </a:rPr>
              <a:t>Chất lượng không khí tại Hà Nội 2022–2025</a:t>
            </a:r>
          </a:p>
        </p:txBody>
      </p:sp>
      <p:sp>
        <p:nvSpPr>
          <p:cNvPr name="TextBox 10" id="10"/>
          <p:cNvSpPr txBox="true"/>
          <p:nvPr/>
        </p:nvSpPr>
        <p:spPr>
          <a:xfrm rot="0">
            <a:off x="6782483" y="341555"/>
            <a:ext cx="6045649" cy="339726"/>
          </a:xfrm>
          <a:prstGeom prst="rect">
            <a:avLst/>
          </a:prstGeom>
        </p:spPr>
        <p:txBody>
          <a:bodyPr anchor="t" rtlCol="false" tIns="0" lIns="0" bIns="0" rIns="0">
            <a:spAutoFit/>
          </a:bodyPr>
          <a:lstStyle/>
          <a:p>
            <a:pPr algn="ctr" marL="0" indent="0" lvl="0">
              <a:lnSpc>
                <a:spcPts val="2799"/>
              </a:lnSpc>
            </a:pPr>
            <a:r>
              <a:rPr lang="en-US" sz="1999" spc="59">
                <a:solidFill>
                  <a:srgbClr val="181D2B"/>
                </a:solidFill>
                <a:latin typeface="Open Sauce"/>
                <a:ea typeface="Open Sauce"/>
                <a:cs typeface="Open Sauce"/>
                <a:sym typeface="Open Sauce"/>
              </a:rPr>
              <a:t>TRƯỜNG ĐẠI HỌC KỸ THUẬT CÔNG NGHIỆP</a:t>
            </a:r>
          </a:p>
        </p:txBody>
      </p:sp>
      <p:sp>
        <p:nvSpPr>
          <p:cNvPr name="TextBox 11" id="11"/>
          <p:cNvSpPr txBox="true"/>
          <p:nvPr/>
        </p:nvSpPr>
        <p:spPr>
          <a:xfrm rot="0">
            <a:off x="13324881" y="8657684"/>
            <a:ext cx="4320618" cy="405765"/>
          </a:xfrm>
          <a:prstGeom prst="rect">
            <a:avLst/>
          </a:prstGeom>
        </p:spPr>
        <p:txBody>
          <a:bodyPr anchor="t" rtlCol="false" tIns="0" lIns="0" bIns="0" rIns="0">
            <a:spAutoFit/>
          </a:bodyPr>
          <a:lstStyle/>
          <a:p>
            <a:pPr algn="l" marL="0" indent="0" lvl="0">
              <a:lnSpc>
                <a:spcPts val="3359"/>
              </a:lnSpc>
            </a:pPr>
            <a:r>
              <a:rPr lang="en-US" b="true" sz="2400" spc="12">
                <a:solidFill>
                  <a:srgbClr val="181D2B"/>
                </a:solidFill>
                <a:latin typeface="Open Sauce Bold"/>
                <a:ea typeface="Open Sauce Bold"/>
                <a:cs typeface="Open Sauce Bold"/>
                <a:sym typeface="Open Sauce Bold"/>
              </a:rPr>
              <a:t>GVHD: </a:t>
            </a:r>
            <a:r>
              <a:rPr lang="en-US" b="true" sz="2400" spc="12">
                <a:solidFill>
                  <a:srgbClr val="181D2B"/>
                </a:solidFill>
                <a:latin typeface="Open Sauce Bold"/>
                <a:ea typeface="Open Sauce Bold"/>
                <a:cs typeface="Open Sauce Bold"/>
                <a:sym typeface="Open Sauce Bold"/>
              </a:rPr>
              <a:t>TS. Nguyễn Văn Huy</a:t>
            </a:r>
          </a:p>
        </p:txBody>
      </p:sp>
      <p:sp>
        <p:nvSpPr>
          <p:cNvPr name="TextBox 12" id="12"/>
          <p:cNvSpPr txBox="true"/>
          <p:nvPr/>
        </p:nvSpPr>
        <p:spPr>
          <a:xfrm rot="0">
            <a:off x="2517523" y="8532941"/>
            <a:ext cx="8079531" cy="824865"/>
          </a:xfrm>
          <a:prstGeom prst="rect">
            <a:avLst/>
          </a:prstGeom>
        </p:spPr>
        <p:txBody>
          <a:bodyPr anchor="t" rtlCol="false" tIns="0" lIns="0" bIns="0" rIns="0">
            <a:spAutoFit/>
          </a:bodyPr>
          <a:lstStyle/>
          <a:p>
            <a:pPr algn="l" marL="0" indent="0" lvl="0">
              <a:lnSpc>
                <a:spcPts val="3359"/>
              </a:lnSpc>
            </a:pPr>
            <a:r>
              <a:rPr lang="en-US" sz="2400" spc="12">
                <a:solidFill>
                  <a:srgbClr val="181D2B"/>
                </a:solidFill>
                <a:latin typeface="Open Sauce"/>
                <a:ea typeface="Open Sauce"/>
                <a:cs typeface="Open Sauce"/>
                <a:sym typeface="Open Sauce"/>
              </a:rPr>
              <a:t>Sinh viên: Nguyễn Trung Hiếu</a:t>
            </a:r>
          </a:p>
          <a:p>
            <a:pPr algn="l" marL="0" indent="0" lvl="0">
              <a:lnSpc>
                <a:spcPts val="3359"/>
              </a:lnSpc>
            </a:pPr>
            <a:r>
              <a:rPr lang="en-US" sz="2400" spc="12">
                <a:solidFill>
                  <a:srgbClr val="181D2B"/>
                </a:solidFill>
                <a:latin typeface="Open Sauce"/>
                <a:ea typeface="Open Sauce"/>
                <a:cs typeface="Open Sauce"/>
                <a:sym typeface="Open Sauce"/>
              </a:rPr>
              <a:t>MSSV: K225480106019 | Lớp K58KTP</a:t>
            </a:r>
          </a:p>
        </p:txBody>
      </p:sp>
      <p:sp>
        <p:nvSpPr>
          <p:cNvPr name="TextBox 13" id="13"/>
          <p:cNvSpPr txBox="true"/>
          <p:nvPr/>
        </p:nvSpPr>
        <p:spPr>
          <a:xfrm rot="0">
            <a:off x="2517523" y="8895383"/>
            <a:ext cx="3817770" cy="248644"/>
          </a:xfrm>
          <a:prstGeom prst="rect">
            <a:avLst/>
          </a:prstGeom>
        </p:spPr>
        <p:txBody>
          <a:bodyPr anchor="t" rtlCol="false" tIns="0" lIns="0" bIns="0" rIns="0">
            <a:spAutoFit/>
          </a:bodyPr>
          <a:lstStyle/>
          <a:p>
            <a:pPr algn="l" marL="0" indent="0" lvl="0">
              <a:lnSpc>
                <a:spcPts val="2045"/>
              </a:lnSpc>
            </a:pPr>
          </a:p>
        </p:txBody>
      </p:sp>
      <p:sp>
        <p:nvSpPr>
          <p:cNvPr name="TextBox 14" id="14"/>
          <p:cNvSpPr txBox="true"/>
          <p:nvPr/>
        </p:nvSpPr>
        <p:spPr>
          <a:xfrm rot="0">
            <a:off x="3445381" y="1641279"/>
            <a:ext cx="11397238" cy="2276475"/>
          </a:xfrm>
          <a:prstGeom prst="rect">
            <a:avLst/>
          </a:prstGeom>
        </p:spPr>
        <p:txBody>
          <a:bodyPr anchor="t" rtlCol="false" tIns="0" lIns="0" bIns="0" rIns="0">
            <a:spAutoFit/>
          </a:bodyPr>
          <a:lstStyle/>
          <a:p>
            <a:pPr algn="ctr" marL="0" indent="0" lvl="0">
              <a:lnSpc>
                <a:spcPts val="8400"/>
              </a:lnSpc>
              <a:spcBef>
                <a:spcPct val="0"/>
              </a:spcBef>
            </a:pPr>
            <a:r>
              <a:rPr lang="en-US" b="true" sz="6000" spc="-120" strike="noStrike" u="none">
                <a:solidFill>
                  <a:srgbClr val="2B598F"/>
                </a:solidFill>
                <a:latin typeface="Agrandir Bold"/>
                <a:ea typeface="Agrandir Bold"/>
                <a:cs typeface="Agrandir Bold"/>
                <a:sym typeface="Agrandir Bold"/>
              </a:rPr>
              <a:t>PHÂN TÍCH DIỄN BIẾN</a:t>
            </a:r>
          </a:p>
          <a:p>
            <a:pPr algn="ctr" marL="0" indent="0" lvl="0">
              <a:lnSpc>
                <a:spcPts val="8400"/>
              </a:lnSpc>
              <a:spcBef>
                <a:spcPct val="0"/>
              </a:spcBef>
            </a:pPr>
            <a:r>
              <a:rPr lang="en-US" b="true" sz="6000" spc="-120" strike="noStrike" u="none">
                <a:solidFill>
                  <a:srgbClr val="2B598F"/>
                </a:solidFill>
                <a:latin typeface="Agrandir Bold"/>
                <a:ea typeface="Agrandir Bold"/>
                <a:cs typeface="Agrandir Bold"/>
                <a:sym typeface="Agrandir Bold"/>
              </a:rPr>
              <a:t>VÀ DỰ BÁO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510279" y="2121870"/>
            <a:ext cx="6095650" cy="6095650"/>
          </a:xfrm>
          <a:custGeom>
            <a:avLst/>
            <a:gdLst/>
            <a:ahLst/>
            <a:cxnLst/>
            <a:rect r="r" b="b" t="t" l="l"/>
            <a:pathLst>
              <a:path h="6095650" w="6095650">
                <a:moveTo>
                  <a:pt x="0" y="0"/>
                </a:moveTo>
                <a:lnTo>
                  <a:pt x="6095650" y="0"/>
                </a:lnTo>
                <a:lnTo>
                  <a:pt x="6095650" y="6095650"/>
                </a:lnTo>
                <a:lnTo>
                  <a:pt x="0" y="6095650"/>
                </a:lnTo>
                <a:lnTo>
                  <a:pt x="0" y="0"/>
                </a:lnTo>
                <a:close/>
              </a:path>
            </a:pathLst>
          </a:custGeom>
          <a:blipFill>
            <a:blip r:embed="rId2">
              <a:extLst>
                <a:ext uri="{96DAC541-7B7A-43D3-8B79-37D633B846F1}">
                  <asvg:svgBlip xmlns:asvg="http://schemas.microsoft.com/office/drawing/2016/SVG/main" r:embed="rId3"/>
                </a:ext>
              </a:extLst>
            </a:blip>
            <a:stretch>
              <a:fillRect l="-31923" t="-30783" r="-30783" b="-31923"/>
            </a:stretch>
          </a:blipFill>
          <a:ln cap="rnd">
            <a:noFill/>
            <a:prstDash val="solid"/>
            <a:round/>
          </a:ln>
        </p:spPr>
      </p:sp>
      <p:sp>
        <p:nvSpPr>
          <p:cNvPr name="TextBox 3" id="3"/>
          <p:cNvSpPr txBox="true"/>
          <p:nvPr/>
        </p:nvSpPr>
        <p:spPr>
          <a:xfrm rot="0">
            <a:off x="2879338" y="733425"/>
            <a:ext cx="12529324" cy="1209675"/>
          </a:xfrm>
          <a:prstGeom prst="rect">
            <a:avLst/>
          </a:prstGeom>
        </p:spPr>
        <p:txBody>
          <a:bodyPr anchor="t" rtlCol="false" tIns="0" lIns="0" bIns="0" rIns="0">
            <a:spAutoFit/>
          </a:bodyPr>
          <a:lstStyle/>
          <a:p>
            <a:pPr algn="ctr" marL="0" indent="0" lvl="0">
              <a:lnSpc>
                <a:spcPts val="8400"/>
              </a:lnSpc>
              <a:spcBef>
                <a:spcPct val="0"/>
              </a:spcBef>
            </a:pPr>
            <a:r>
              <a:rPr lang="en-US" b="true" sz="6000" strike="noStrike" u="none">
                <a:solidFill>
                  <a:srgbClr val="2B598F"/>
                </a:solidFill>
                <a:latin typeface="Agrandir Bold"/>
                <a:ea typeface="Agrandir Bold"/>
                <a:cs typeface="Agrandir Bold"/>
                <a:sym typeface="Agrandir Bold"/>
              </a:rPr>
              <a:t>Mục tiêu nghiên cứu và phạm vi</a:t>
            </a:r>
          </a:p>
        </p:txBody>
      </p:sp>
      <p:grpSp>
        <p:nvGrpSpPr>
          <p:cNvPr name="Group 4" id="4"/>
          <p:cNvGrpSpPr/>
          <p:nvPr/>
        </p:nvGrpSpPr>
        <p:grpSpPr>
          <a:xfrm rot="0">
            <a:off x="5900989" y="2643550"/>
            <a:ext cx="10863414" cy="2167257"/>
            <a:chOff x="0" y="0"/>
            <a:chExt cx="2866578" cy="571884"/>
          </a:xfrm>
        </p:grpSpPr>
        <p:sp>
          <p:nvSpPr>
            <p:cNvPr name="Freeform 5" id="5"/>
            <p:cNvSpPr/>
            <p:nvPr/>
          </p:nvSpPr>
          <p:spPr>
            <a:xfrm flipH="false" flipV="false" rot="0">
              <a:off x="0" y="0"/>
              <a:ext cx="2866578" cy="571884"/>
            </a:xfrm>
            <a:custGeom>
              <a:avLst/>
              <a:gdLst/>
              <a:ahLst/>
              <a:cxnLst/>
              <a:rect r="r" b="b" t="t" l="l"/>
              <a:pathLst>
                <a:path h="571884" w="2866578">
                  <a:moveTo>
                    <a:pt x="20667" y="0"/>
                  </a:moveTo>
                  <a:lnTo>
                    <a:pt x="2845911" y="0"/>
                  </a:lnTo>
                  <a:cubicBezTo>
                    <a:pt x="2857325" y="0"/>
                    <a:pt x="2866578" y="9253"/>
                    <a:pt x="2866578" y="20667"/>
                  </a:cubicBezTo>
                  <a:lnTo>
                    <a:pt x="2866578" y="551217"/>
                  </a:lnTo>
                  <a:cubicBezTo>
                    <a:pt x="2866578" y="556698"/>
                    <a:pt x="2864401" y="561955"/>
                    <a:pt x="2860525" y="565831"/>
                  </a:cubicBezTo>
                  <a:cubicBezTo>
                    <a:pt x="2856649" y="569706"/>
                    <a:pt x="2851392" y="571884"/>
                    <a:pt x="2845911" y="571884"/>
                  </a:cubicBezTo>
                  <a:lnTo>
                    <a:pt x="20667" y="571884"/>
                  </a:lnTo>
                  <a:cubicBezTo>
                    <a:pt x="15186" y="571884"/>
                    <a:pt x="9929" y="569706"/>
                    <a:pt x="6053" y="565831"/>
                  </a:cubicBezTo>
                  <a:cubicBezTo>
                    <a:pt x="2177" y="561955"/>
                    <a:pt x="0" y="556698"/>
                    <a:pt x="0" y="551217"/>
                  </a:cubicBezTo>
                  <a:lnTo>
                    <a:pt x="0" y="20667"/>
                  </a:lnTo>
                  <a:cubicBezTo>
                    <a:pt x="0" y="15186"/>
                    <a:pt x="2177" y="9929"/>
                    <a:pt x="6053" y="6053"/>
                  </a:cubicBezTo>
                  <a:cubicBezTo>
                    <a:pt x="9929" y="2177"/>
                    <a:pt x="15186" y="0"/>
                    <a:pt x="20667" y="0"/>
                  </a:cubicBezTo>
                  <a:close/>
                </a:path>
              </a:pathLst>
            </a:custGeom>
            <a:solidFill>
              <a:srgbClr val="FFFFFE"/>
            </a:solidFill>
            <a:ln w="19050" cap="rnd">
              <a:solidFill>
                <a:srgbClr val="181D2B"/>
              </a:solidFill>
              <a:prstDash val="solid"/>
              <a:round/>
            </a:ln>
          </p:spPr>
        </p:sp>
        <p:sp>
          <p:nvSpPr>
            <p:cNvPr name="TextBox 6" id="6"/>
            <p:cNvSpPr txBox="true"/>
            <p:nvPr/>
          </p:nvSpPr>
          <p:spPr>
            <a:xfrm>
              <a:off x="0" y="-38100"/>
              <a:ext cx="2866578" cy="609984"/>
            </a:xfrm>
            <a:prstGeom prst="rect">
              <a:avLst/>
            </a:prstGeom>
          </p:spPr>
          <p:txBody>
            <a:bodyPr anchor="ctr" rtlCol="false" tIns="50704" lIns="50704" bIns="50704" rIns="50704"/>
            <a:lstStyle/>
            <a:p>
              <a:pPr algn="ctr" marL="0" indent="0" lvl="0">
                <a:lnSpc>
                  <a:spcPts val="3135"/>
                </a:lnSpc>
              </a:pPr>
            </a:p>
          </p:txBody>
        </p:sp>
      </p:grpSp>
      <p:sp>
        <p:nvSpPr>
          <p:cNvPr name="TextBox 7" id="7"/>
          <p:cNvSpPr txBox="true"/>
          <p:nvPr/>
        </p:nvSpPr>
        <p:spPr>
          <a:xfrm rot="0">
            <a:off x="6425537" y="3037536"/>
            <a:ext cx="9523548" cy="1430744"/>
          </a:xfrm>
          <a:prstGeom prst="rect">
            <a:avLst/>
          </a:prstGeom>
        </p:spPr>
        <p:txBody>
          <a:bodyPr anchor="t" rtlCol="false" tIns="0" lIns="0" bIns="0" rIns="0">
            <a:spAutoFit/>
          </a:bodyPr>
          <a:lstStyle/>
          <a:p>
            <a:pPr algn="l" marL="0" indent="0" lvl="0">
              <a:lnSpc>
                <a:spcPts val="2888"/>
              </a:lnSpc>
              <a:spcBef>
                <a:spcPct val="0"/>
              </a:spcBef>
            </a:pPr>
            <a:r>
              <a:rPr lang="en-US" sz="2063" spc="10" strike="noStrike" u="none">
                <a:solidFill>
                  <a:srgbClr val="181D2B"/>
                </a:solidFill>
                <a:latin typeface="Open Sauce"/>
                <a:ea typeface="Open Sauce"/>
                <a:cs typeface="Open Sauce"/>
                <a:sym typeface="Open Sauce"/>
              </a:rPr>
              <a:t>Mục tiêu: Phân tích xu hướng ô nhiễm không khí, mối quan hệ giữa các yếu tố ảnh hưởng đến chỉ số AQI, mô hình hóa và dự báo chất lượng không khí tại Hà Nội giai đoạn 2022–2025, sử dụng các phương pháp thống kê và học máy để hiểu rõ diễn biến ô nhiễm.</a:t>
            </a:r>
          </a:p>
        </p:txBody>
      </p:sp>
      <p:sp>
        <p:nvSpPr>
          <p:cNvPr name="Freeform 8" id="8"/>
          <p:cNvSpPr/>
          <p:nvPr/>
        </p:nvSpPr>
        <p:spPr>
          <a:xfrm flipH="false" flipV="false" rot="0">
            <a:off x="4998624" y="3615501"/>
            <a:ext cx="586747" cy="223355"/>
          </a:xfrm>
          <a:custGeom>
            <a:avLst/>
            <a:gdLst/>
            <a:ahLst/>
            <a:cxnLst/>
            <a:rect r="r" b="b" t="t" l="l"/>
            <a:pathLst>
              <a:path h="223355" w="586747">
                <a:moveTo>
                  <a:pt x="0" y="0"/>
                </a:moveTo>
                <a:lnTo>
                  <a:pt x="586747" y="0"/>
                </a:lnTo>
                <a:lnTo>
                  <a:pt x="586747" y="223355"/>
                </a:lnTo>
                <a:lnTo>
                  <a:pt x="0" y="2233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9340067">
            <a:off x="-180805" y="2969057"/>
            <a:ext cx="6829280" cy="5915864"/>
          </a:xfrm>
          <a:custGeom>
            <a:avLst/>
            <a:gdLst/>
            <a:ahLst/>
            <a:cxnLst/>
            <a:rect r="r" b="b" t="t" l="l"/>
            <a:pathLst>
              <a:path h="5915864" w="6829280">
                <a:moveTo>
                  <a:pt x="0" y="0"/>
                </a:moveTo>
                <a:lnTo>
                  <a:pt x="6829281" y="0"/>
                </a:lnTo>
                <a:lnTo>
                  <a:pt x="6829281" y="5915864"/>
                </a:lnTo>
                <a:lnTo>
                  <a:pt x="0" y="5915864"/>
                </a:lnTo>
                <a:lnTo>
                  <a:pt x="0" y="0"/>
                </a:lnTo>
                <a:close/>
              </a:path>
            </a:pathLst>
          </a:custGeom>
          <a:blipFill>
            <a:blip r:embed="rId6"/>
            <a:stretch>
              <a:fillRect l="0" t="0" r="0" b="0"/>
            </a:stretch>
          </a:blipFill>
        </p:spPr>
      </p:sp>
      <p:grpSp>
        <p:nvGrpSpPr>
          <p:cNvPr name="Group 10" id="10"/>
          <p:cNvGrpSpPr/>
          <p:nvPr/>
        </p:nvGrpSpPr>
        <p:grpSpPr>
          <a:xfrm rot="0">
            <a:off x="5900989" y="5072908"/>
            <a:ext cx="10863414" cy="2167257"/>
            <a:chOff x="0" y="0"/>
            <a:chExt cx="2866578" cy="571884"/>
          </a:xfrm>
        </p:grpSpPr>
        <p:sp>
          <p:nvSpPr>
            <p:cNvPr name="Freeform 11" id="11"/>
            <p:cNvSpPr/>
            <p:nvPr/>
          </p:nvSpPr>
          <p:spPr>
            <a:xfrm flipH="false" flipV="false" rot="0">
              <a:off x="0" y="0"/>
              <a:ext cx="2866578" cy="571884"/>
            </a:xfrm>
            <a:custGeom>
              <a:avLst/>
              <a:gdLst/>
              <a:ahLst/>
              <a:cxnLst/>
              <a:rect r="r" b="b" t="t" l="l"/>
              <a:pathLst>
                <a:path h="571884" w="2866578">
                  <a:moveTo>
                    <a:pt x="20667" y="0"/>
                  </a:moveTo>
                  <a:lnTo>
                    <a:pt x="2845911" y="0"/>
                  </a:lnTo>
                  <a:cubicBezTo>
                    <a:pt x="2857325" y="0"/>
                    <a:pt x="2866578" y="9253"/>
                    <a:pt x="2866578" y="20667"/>
                  </a:cubicBezTo>
                  <a:lnTo>
                    <a:pt x="2866578" y="551217"/>
                  </a:lnTo>
                  <a:cubicBezTo>
                    <a:pt x="2866578" y="556698"/>
                    <a:pt x="2864401" y="561955"/>
                    <a:pt x="2860525" y="565831"/>
                  </a:cubicBezTo>
                  <a:cubicBezTo>
                    <a:pt x="2856649" y="569706"/>
                    <a:pt x="2851392" y="571884"/>
                    <a:pt x="2845911" y="571884"/>
                  </a:cubicBezTo>
                  <a:lnTo>
                    <a:pt x="20667" y="571884"/>
                  </a:lnTo>
                  <a:cubicBezTo>
                    <a:pt x="15186" y="571884"/>
                    <a:pt x="9929" y="569706"/>
                    <a:pt x="6053" y="565831"/>
                  </a:cubicBezTo>
                  <a:cubicBezTo>
                    <a:pt x="2177" y="561955"/>
                    <a:pt x="0" y="556698"/>
                    <a:pt x="0" y="551217"/>
                  </a:cubicBezTo>
                  <a:lnTo>
                    <a:pt x="0" y="20667"/>
                  </a:lnTo>
                  <a:cubicBezTo>
                    <a:pt x="0" y="15186"/>
                    <a:pt x="2177" y="9929"/>
                    <a:pt x="6053" y="6053"/>
                  </a:cubicBezTo>
                  <a:cubicBezTo>
                    <a:pt x="9929" y="2177"/>
                    <a:pt x="15186" y="0"/>
                    <a:pt x="20667" y="0"/>
                  </a:cubicBezTo>
                  <a:close/>
                </a:path>
              </a:pathLst>
            </a:custGeom>
            <a:solidFill>
              <a:srgbClr val="FFFFFE"/>
            </a:solidFill>
            <a:ln w="19050" cap="rnd">
              <a:solidFill>
                <a:srgbClr val="181D2B"/>
              </a:solidFill>
              <a:prstDash val="solid"/>
              <a:round/>
            </a:ln>
          </p:spPr>
        </p:sp>
        <p:sp>
          <p:nvSpPr>
            <p:cNvPr name="TextBox 12" id="12"/>
            <p:cNvSpPr txBox="true"/>
            <p:nvPr/>
          </p:nvSpPr>
          <p:spPr>
            <a:xfrm>
              <a:off x="0" y="-38100"/>
              <a:ext cx="2866578" cy="609984"/>
            </a:xfrm>
            <a:prstGeom prst="rect">
              <a:avLst/>
            </a:prstGeom>
          </p:spPr>
          <p:txBody>
            <a:bodyPr anchor="ctr" rtlCol="false" tIns="50704" lIns="50704" bIns="50704" rIns="50704"/>
            <a:lstStyle/>
            <a:p>
              <a:pPr algn="ctr" marL="0" indent="0" lvl="0">
                <a:lnSpc>
                  <a:spcPts val="3135"/>
                </a:lnSpc>
              </a:pPr>
            </a:p>
          </p:txBody>
        </p:sp>
      </p:grpSp>
      <p:sp>
        <p:nvSpPr>
          <p:cNvPr name="TextBox 13" id="13"/>
          <p:cNvSpPr txBox="true"/>
          <p:nvPr/>
        </p:nvSpPr>
        <p:spPr>
          <a:xfrm rot="0">
            <a:off x="6425537" y="5466894"/>
            <a:ext cx="9523548" cy="1069480"/>
          </a:xfrm>
          <a:prstGeom prst="rect">
            <a:avLst/>
          </a:prstGeom>
        </p:spPr>
        <p:txBody>
          <a:bodyPr anchor="t" rtlCol="false" tIns="0" lIns="0" bIns="0" rIns="0">
            <a:spAutoFit/>
          </a:bodyPr>
          <a:lstStyle/>
          <a:p>
            <a:pPr algn="l">
              <a:lnSpc>
                <a:spcPts val="2888"/>
              </a:lnSpc>
            </a:pPr>
            <a:r>
              <a:rPr lang="en-US" sz="2063" spc="10">
                <a:solidFill>
                  <a:srgbClr val="181D2B"/>
                </a:solidFill>
                <a:latin typeface="Open Sauce"/>
                <a:ea typeface="Open Sauce"/>
                <a:cs typeface="Open Sauce"/>
                <a:sym typeface="Open Sauce"/>
              </a:rPr>
              <a:t>Phạm vi không gian: Dữ liệu phân tích thuộc thành phố Hà Nội. </a:t>
            </a:r>
          </a:p>
          <a:p>
            <a:pPr algn="l" marL="0" indent="0" lvl="0">
              <a:lnSpc>
                <a:spcPts val="2888"/>
              </a:lnSpc>
              <a:spcBef>
                <a:spcPct val="0"/>
              </a:spcBef>
            </a:pPr>
            <a:r>
              <a:rPr lang="en-US" sz="2063" spc="10">
                <a:solidFill>
                  <a:srgbClr val="181D2B"/>
                </a:solidFill>
                <a:latin typeface="Open Sauce"/>
                <a:ea typeface="Open Sauce"/>
                <a:cs typeface="Open Sauce"/>
                <a:sym typeface="Open Sauce"/>
              </a:rPr>
              <a:t>Phạm vi thời gian: Giai đoạn từ 01/01/2022 đến 30/06/2025. Dữ liệu được thu thập theo từng giờ</a:t>
            </a:r>
          </a:p>
        </p:txBody>
      </p:sp>
      <p:sp>
        <p:nvSpPr>
          <p:cNvPr name="Freeform 14" id="14"/>
          <p:cNvSpPr/>
          <p:nvPr/>
        </p:nvSpPr>
        <p:spPr>
          <a:xfrm flipH="false" flipV="false" rot="0">
            <a:off x="4998624" y="6044859"/>
            <a:ext cx="586747" cy="223355"/>
          </a:xfrm>
          <a:custGeom>
            <a:avLst/>
            <a:gdLst/>
            <a:ahLst/>
            <a:cxnLst/>
            <a:rect r="r" b="b" t="t" l="l"/>
            <a:pathLst>
              <a:path h="223355" w="586747">
                <a:moveTo>
                  <a:pt x="0" y="0"/>
                </a:moveTo>
                <a:lnTo>
                  <a:pt x="586747" y="0"/>
                </a:lnTo>
                <a:lnTo>
                  <a:pt x="586747" y="223355"/>
                </a:lnTo>
                <a:lnTo>
                  <a:pt x="0" y="2233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3299025" y="2121870"/>
            <a:ext cx="6095650" cy="6095650"/>
          </a:xfrm>
          <a:custGeom>
            <a:avLst/>
            <a:gdLst/>
            <a:ahLst/>
            <a:cxnLst/>
            <a:rect r="r" b="b" t="t" l="l"/>
            <a:pathLst>
              <a:path h="6095650" w="6095650">
                <a:moveTo>
                  <a:pt x="0" y="0"/>
                </a:moveTo>
                <a:lnTo>
                  <a:pt x="6095649" y="0"/>
                </a:lnTo>
                <a:lnTo>
                  <a:pt x="6095649" y="6095650"/>
                </a:lnTo>
                <a:lnTo>
                  <a:pt x="0" y="6095650"/>
                </a:lnTo>
                <a:lnTo>
                  <a:pt x="0" y="0"/>
                </a:lnTo>
                <a:close/>
              </a:path>
            </a:pathLst>
          </a:custGeom>
          <a:blipFill>
            <a:blip r:embed="rId2">
              <a:extLst>
                <a:ext uri="{96DAC541-7B7A-43D3-8B79-37D633B846F1}">
                  <asvg:svgBlip xmlns:asvg="http://schemas.microsoft.com/office/drawing/2016/SVG/main" r:embed="rId3"/>
                </a:ext>
              </a:extLst>
            </a:blip>
            <a:stretch>
              <a:fillRect l="-31923" t="-30783" r="-30783" b="-31923"/>
            </a:stretch>
          </a:blipFill>
          <a:ln cap="rnd">
            <a:noFill/>
            <a:prstDash val="solid"/>
            <a:round/>
          </a:ln>
        </p:spPr>
      </p:sp>
      <p:sp>
        <p:nvSpPr>
          <p:cNvPr name="Freeform 3" id="3"/>
          <p:cNvSpPr/>
          <p:nvPr/>
        </p:nvSpPr>
        <p:spPr>
          <a:xfrm flipH="false" flipV="false" rot="-1431390">
            <a:off x="12933428" y="4267723"/>
            <a:ext cx="4985225" cy="4241042"/>
          </a:xfrm>
          <a:custGeom>
            <a:avLst/>
            <a:gdLst/>
            <a:ahLst/>
            <a:cxnLst/>
            <a:rect r="r" b="b" t="t" l="l"/>
            <a:pathLst>
              <a:path h="4241042" w="4985225">
                <a:moveTo>
                  <a:pt x="0" y="0"/>
                </a:moveTo>
                <a:lnTo>
                  <a:pt x="4985224" y="0"/>
                </a:lnTo>
                <a:lnTo>
                  <a:pt x="4985224" y="4241041"/>
                </a:lnTo>
                <a:lnTo>
                  <a:pt x="0" y="4241041"/>
                </a:lnTo>
                <a:lnTo>
                  <a:pt x="0" y="0"/>
                </a:lnTo>
                <a:close/>
              </a:path>
            </a:pathLst>
          </a:custGeom>
          <a:blipFill>
            <a:blip r:embed="rId4"/>
            <a:stretch>
              <a:fillRect l="0" t="0" r="0" b="0"/>
            </a:stretch>
          </a:blipFill>
        </p:spPr>
      </p:sp>
      <p:grpSp>
        <p:nvGrpSpPr>
          <p:cNvPr name="Group 4" id="4"/>
          <p:cNvGrpSpPr/>
          <p:nvPr/>
        </p:nvGrpSpPr>
        <p:grpSpPr>
          <a:xfrm rot="0">
            <a:off x="1786335" y="2669704"/>
            <a:ext cx="11867075" cy="2167257"/>
            <a:chOff x="0" y="0"/>
            <a:chExt cx="3131419" cy="571884"/>
          </a:xfrm>
        </p:grpSpPr>
        <p:sp>
          <p:nvSpPr>
            <p:cNvPr name="Freeform 5" id="5"/>
            <p:cNvSpPr/>
            <p:nvPr/>
          </p:nvSpPr>
          <p:spPr>
            <a:xfrm flipH="false" flipV="false" rot="0">
              <a:off x="0" y="0"/>
              <a:ext cx="3131419" cy="571884"/>
            </a:xfrm>
            <a:custGeom>
              <a:avLst/>
              <a:gdLst/>
              <a:ahLst/>
              <a:cxnLst/>
              <a:rect r="r" b="b" t="t" l="l"/>
              <a:pathLst>
                <a:path h="571884" w="3131419">
                  <a:moveTo>
                    <a:pt x="18919" y="0"/>
                  </a:moveTo>
                  <a:lnTo>
                    <a:pt x="3112500" y="0"/>
                  </a:lnTo>
                  <a:cubicBezTo>
                    <a:pt x="3122948" y="0"/>
                    <a:pt x="3131419" y="8470"/>
                    <a:pt x="3131419" y="18919"/>
                  </a:cubicBezTo>
                  <a:lnTo>
                    <a:pt x="3131419" y="552965"/>
                  </a:lnTo>
                  <a:cubicBezTo>
                    <a:pt x="3131419" y="557982"/>
                    <a:pt x="3129425" y="562794"/>
                    <a:pt x="3125877" y="566342"/>
                  </a:cubicBezTo>
                  <a:cubicBezTo>
                    <a:pt x="3122329" y="569891"/>
                    <a:pt x="3117517" y="571884"/>
                    <a:pt x="3112500" y="571884"/>
                  </a:cubicBezTo>
                  <a:lnTo>
                    <a:pt x="18919" y="571884"/>
                  </a:lnTo>
                  <a:cubicBezTo>
                    <a:pt x="13902" y="571884"/>
                    <a:pt x="9089" y="569891"/>
                    <a:pt x="5541" y="566342"/>
                  </a:cubicBezTo>
                  <a:cubicBezTo>
                    <a:pt x="1993" y="562794"/>
                    <a:pt x="0" y="557982"/>
                    <a:pt x="0" y="552965"/>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sp>
        <p:sp>
          <p:nvSpPr>
            <p:cNvPr name="TextBox 6" id="6"/>
            <p:cNvSpPr txBox="true"/>
            <p:nvPr/>
          </p:nvSpPr>
          <p:spPr>
            <a:xfrm>
              <a:off x="0" y="-38100"/>
              <a:ext cx="3131419" cy="609984"/>
            </a:xfrm>
            <a:prstGeom prst="rect">
              <a:avLst/>
            </a:prstGeom>
          </p:spPr>
          <p:txBody>
            <a:bodyPr anchor="ctr" rtlCol="false" tIns="50704" lIns="50704" bIns="50704" rIns="50704"/>
            <a:lstStyle/>
            <a:p>
              <a:pPr algn="ctr" marL="0" indent="0" lvl="0">
                <a:lnSpc>
                  <a:spcPts val="3135"/>
                </a:lnSpc>
              </a:pPr>
            </a:p>
          </p:txBody>
        </p:sp>
      </p:grpSp>
      <p:sp>
        <p:nvSpPr>
          <p:cNvPr name="TextBox 7" id="7"/>
          <p:cNvSpPr txBox="true"/>
          <p:nvPr/>
        </p:nvSpPr>
        <p:spPr>
          <a:xfrm rot="0">
            <a:off x="2192121" y="3054164"/>
            <a:ext cx="11048426" cy="1350757"/>
          </a:xfrm>
          <a:prstGeom prst="rect">
            <a:avLst/>
          </a:prstGeom>
        </p:spPr>
        <p:txBody>
          <a:bodyPr anchor="t" rtlCol="false" tIns="0" lIns="0" bIns="0" rIns="0">
            <a:spAutoFit/>
          </a:bodyPr>
          <a:lstStyle/>
          <a:p>
            <a:pPr algn="l" marL="0" indent="0" lvl="0">
              <a:lnSpc>
                <a:spcPts val="3630"/>
              </a:lnSpc>
              <a:spcBef>
                <a:spcPct val="0"/>
              </a:spcBef>
            </a:pPr>
            <a:r>
              <a:rPr lang="en-US" sz="2593" spc="12" strike="noStrike" u="none">
                <a:solidFill>
                  <a:srgbClr val="181D2B"/>
                </a:solidFill>
                <a:latin typeface="Open Sauce"/>
                <a:ea typeface="Open Sauce"/>
                <a:cs typeface="Open Sauce"/>
                <a:sym typeface="Open Sauce"/>
              </a:rPr>
              <a:t>Tổng cộng 30,341 bản ghi theo giờ được thu thập từ 01/01/2022 đến 30/06/2025. Dữ liệu bao gồm các chỉ số cốt lõi: AQI, PM2.5, PM10, nhiệt độ, độ ẩm và tốc độ gió tại Hà Nội.</a:t>
            </a:r>
          </a:p>
        </p:txBody>
      </p:sp>
      <p:sp>
        <p:nvSpPr>
          <p:cNvPr name="Freeform 8" id="8"/>
          <p:cNvSpPr/>
          <p:nvPr/>
        </p:nvSpPr>
        <p:spPr>
          <a:xfrm flipH="false" flipV="false" rot="0">
            <a:off x="1028700" y="3661953"/>
            <a:ext cx="586747" cy="223355"/>
          </a:xfrm>
          <a:custGeom>
            <a:avLst/>
            <a:gdLst/>
            <a:ahLst/>
            <a:cxnLst/>
            <a:rect r="r" b="b" t="t" l="l"/>
            <a:pathLst>
              <a:path h="223355" w="586747">
                <a:moveTo>
                  <a:pt x="0" y="0"/>
                </a:moveTo>
                <a:lnTo>
                  <a:pt x="586747" y="0"/>
                </a:lnTo>
                <a:lnTo>
                  <a:pt x="586747" y="223356"/>
                </a:lnTo>
                <a:lnTo>
                  <a:pt x="0" y="2233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786335" y="5096134"/>
            <a:ext cx="11867075" cy="3471502"/>
            <a:chOff x="0" y="0"/>
            <a:chExt cx="3131419" cy="916041"/>
          </a:xfrm>
        </p:grpSpPr>
        <p:sp>
          <p:nvSpPr>
            <p:cNvPr name="Freeform 10" id="10"/>
            <p:cNvSpPr/>
            <p:nvPr/>
          </p:nvSpPr>
          <p:spPr>
            <a:xfrm flipH="false" flipV="false" rot="0">
              <a:off x="0" y="0"/>
              <a:ext cx="3131419" cy="916041"/>
            </a:xfrm>
            <a:custGeom>
              <a:avLst/>
              <a:gdLst/>
              <a:ahLst/>
              <a:cxnLst/>
              <a:rect r="r" b="b" t="t" l="l"/>
              <a:pathLst>
                <a:path h="916041" w="3131419">
                  <a:moveTo>
                    <a:pt x="18919" y="0"/>
                  </a:moveTo>
                  <a:lnTo>
                    <a:pt x="3112500" y="0"/>
                  </a:lnTo>
                  <a:cubicBezTo>
                    <a:pt x="3122948" y="0"/>
                    <a:pt x="3131419" y="8470"/>
                    <a:pt x="3131419" y="18919"/>
                  </a:cubicBezTo>
                  <a:lnTo>
                    <a:pt x="3131419" y="897122"/>
                  </a:lnTo>
                  <a:cubicBezTo>
                    <a:pt x="3131419" y="902140"/>
                    <a:pt x="3129425" y="906952"/>
                    <a:pt x="3125877" y="910500"/>
                  </a:cubicBezTo>
                  <a:cubicBezTo>
                    <a:pt x="3122329" y="914048"/>
                    <a:pt x="3117517" y="916041"/>
                    <a:pt x="3112500" y="916041"/>
                  </a:cubicBezTo>
                  <a:lnTo>
                    <a:pt x="18919" y="916041"/>
                  </a:lnTo>
                  <a:cubicBezTo>
                    <a:pt x="13902" y="916041"/>
                    <a:pt x="9089" y="914048"/>
                    <a:pt x="5541" y="910500"/>
                  </a:cubicBezTo>
                  <a:cubicBezTo>
                    <a:pt x="1993" y="906952"/>
                    <a:pt x="0" y="902140"/>
                    <a:pt x="0" y="897122"/>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sp>
        <p:sp>
          <p:nvSpPr>
            <p:cNvPr name="TextBox 11" id="11"/>
            <p:cNvSpPr txBox="true"/>
            <p:nvPr/>
          </p:nvSpPr>
          <p:spPr>
            <a:xfrm>
              <a:off x="0" y="-38100"/>
              <a:ext cx="3131419" cy="954141"/>
            </a:xfrm>
            <a:prstGeom prst="rect">
              <a:avLst/>
            </a:prstGeom>
          </p:spPr>
          <p:txBody>
            <a:bodyPr anchor="ctr" rtlCol="false" tIns="50704" lIns="50704" bIns="50704" rIns="50704"/>
            <a:lstStyle/>
            <a:p>
              <a:pPr algn="ctr" marL="0" indent="0" lvl="0">
                <a:lnSpc>
                  <a:spcPts val="3135"/>
                </a:lnSpc>
              </a:pPr>
            </a:p>
          </p:txBody>
        </p:sp>
      </p:grpSp>
      <p:sp>
        <p:nvSpPr>
          <p:cNvPr name="TextBox 12" id="12"/>
          <p:cNvSpPr txBox="true"/>
          <p:nvPr/>
        </p:nvSpPr>
        <p:spPr>
          <a:xfrm rot="0">
            <a:off x="2192121" y="5480595"/>
            <a:ext cx="11048426" cy="2719758"/>
          </a:xfrm>
          <a:prstGeom prst="rect">
            <a:avLst/>
          </a:prstGeom>
        </p:spPr>
        <p:txBody>
          <a:bodyPr anchor="t" rtlCol="false" tIns="0" lIns="0" bIns="0" rIns="0">
            <a:spAutoFit/>
          </a:bodyPr>
          <a:lstStyle/>
          <a:p>
            <a:pPr algn="l">
              <a:lnSpc>
                <a:spcPts val="3630"/>
              </a:lnSpc>
            </a:pPr>
            <a:r>
              <a:rPr lang="en-US" sz="2593" spc="12">
                <a:solidFill>
                  <a:srgbClr val="181D2B"/>
                </a:solidFill>
                <a:latin typeface="Open Sauce"/>
                <a:ea typeface="Open Sauce"/>
                <a:cs typeface="Open Sauce"/>
                <a:sym typeface="Open Sauce"/>
              </a:rPr>
              <a:t>Dữ liệu đầu vào gồm 04 tệp dữ liệu độc lập định dạng .csv:</a:t>
            </a:r>
          </a:p>
          <a:p>
            <a:pPr algn="l">
              <a:lnSpc>
                <a:spcPts val="3630"/>
              </a:lnSpc>
            </a:pPr>
            <a:r>
              <a:rPr lang="en-US" sz="2593" spc="12">
                <a:solidFill>
                  <a:srgbClr val="181D2B"/>
                </a:solidFill>
                <a:latin typeface="Open Sauce"/>
                <a:ea typeface="Open Sauce"/>
                <a:cs typeface="Open Sauce"/>
                <a:sym typeface="Open Sauce"/>
              </a:rPr>
              <a:t>• 2022.csv: Chứa dữ liệu chất lượng không khí năm 2022.</a:t>
            </a:r>
          </a:p>
          <a:p>
            <a:pPr algn="l">
              <a:lnSpc>
                <a:spcPts val="3630"/>
              </a:lnSpc>
            </a:pPr>
            <a:r>
              <a:rPr lang="en-US" sz="2593" spc="12">
                <a:solidFill>
                  <a:srgbClr val="181D2B"/>
                </a:solidFill>
                <a:latin typeface="Open Sauce"/>
                <a:ea typeface="Open Sauce"/>
                <a:cs typeface="Open Sauce"/>
                <a:sym typeface="Open Sauce"/>
              </a:rPr>
              <a:t>• 2023.csv: Chứa dữ liệu chất lượng không khí năm 2023.</a:t>
            </a:r>
          </a:p>
          <a:p>
            <a:pPr algn="l">
              <a:lnSpc>
                <a:spcPts val="3630"/>
              </a:lnSpc>
            </a:pPr>
            <a:r>
              <a:rPr lang="en-US" sz="2593" spc="12">
                <a:solidFill>
                  <a:srgbClr val="181D2B"/>
                </a:solidFill>
                <a:latin typeface="Open Sauce"/>
                <a:ea typeface="Open Sauce"/>
                <a:cs typeface="Open Sauce"/>
                <a:sym typeface="Open Sauce"/>
              </a:rPr>
              <a:t>• 2024.csv: Chứa dữ liệu chất lượng không khí năm 2024.</a:t>
            </a:r>
          </a:p>
          <a:p>
            <a:pPr algn="l" marL="0" indent="0" lvl="0">
              <a:lnSpc>
                <a:spcPts val="3630"/>
              </a:lnSpc>
              <a:spcBef>
                <a:spcPct val="0"/>
              </a:spcBef>
            </a:pPr>
            <a:r>
              <a:rPr lang="en-US" sz="2593" spc="12">
                <a:solidFill>
                  <a:srgbClr val="181D2B"/>
                </a:solidFill>
                <a:latin typeface="Open Sauce"/>
                <a:ea typeface="Open Sauce"/>
                <a:cs typeface="Open Sauce"/>
                <a:sym typeface="Open Sauce"/>
              </a:rPr>
              <a:t>• 2025.csv: Chứa dữ liệu chất lượng không khí nửa đầu năm 2025 (từ 01/01/2025 đến hết ngày 30/06/2025)</a:t>
            </a:r>
          </a:p>
        </p:txBody>
      </p:sp>
      <p:sp>
        <p:nvSpPr>
          <p:cNvPr name="Freeform 13" id="13"/>
          <p:cNvSpPr/>
          <p:nvPr/>
        </p:nvSpPr>
        <p:spPr>
          <a:xfrm flipH="false" flipV="false" rot="0">
            <a:off x="1028700" y="6088384"/>
            <a:ext cx="586747" cy="223355"/>
          </a:xfrm>
          <a:custGeom>
            <a:avLst/>
            <a:gdLst/>
            <a:ahLst/>
            <a:cxnLst/>
            <a:rect r="r" b="b" t="t" l="l"/>
            <a:pathLst>
              <a:path h="223355" w="586747">
                <a:moveTo>
                  <a:pt x="0" y="0"/>
                </a:moveTo>
                <a:lnTo>
                  <a:pt x="586747" y="0"/>
                </a:lnTo>
                <a:lnTo>
                  <a:pt x="586747" y="223355"/>
                </a:lnTo>
                <a:lnTo>
                  <a:pt x="0" y="2233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028700" y="704850"/>
            <a:ext cx="12270325" cy="1384300"/>
          </a:xfrm>
          <a:prstGeom prst="rect">
            <a:avLst/>
          </a:prstGeom>
        </p:spPr>
        <p:txBody>
          <a:bodyPr anchor="t" rtlCol="false" tIns="0" lIns="0" bIns="0" rIns="0">
            <a:spAutoFit/>
          </a:bodyPr>
          <a:lstStyle/>
          <a:p>
            <a:pPr algn="l" marL="0" indent="0" lvl="0">
              <a:lnSpc>
                <a:spcPts val="9799"/>
              </a:lnSpc>
              <a:spcBef>
                <a:spcPct val="0"/>
              </a:spcBef>
            </a:pPr>
            <a:r>
              <a:rPr lang="en-US" b="true" sz="6999" strike="noStrike" u="none">
                <a:solidFill>
                  <a:srgbClr val="2B598F"/>
                </a:solidFill>
                <a:latin typeface="Agrandir Bold"/>
                <a:ea typeface="Agrandir Bold"/>
                <a:cs typeface="Agrandir Bold"/>
                <a:sym typeface="Agrandir Bold"/>
              </a:rPr>
              <a:t>Dữ liệu nghiên cứu</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grpSp>
        <p:nvGrpSpPr>
          <p:cNvPr name="Group 2" id="2"/>
          <p:cNvGrpSpPr/>
          <p:nvPr/>
        </p:nvGrpSpPr>
        <p:grpSpPr>
          <a:xfrm rot="0">
            <a:off x="7130773" y="2409096"/>
            <a:ext cx="223376" cy="22337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5" id="5"/>
          <p:cNvGrpSpPr/>
          <p:nvPr/>
        </p:nvGrpSpPr>
        <p:grpSpPr>
          <a:xfrm rot="0">
            <a:off x="7130773" y="3518298"/>
            <a:ext cx="223376" cy="22337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8" id="8"/>
          <p:cNvGrpSpPr/>
          <p:nvPr/>
        </p:nvGrpSpPr>
        <p:grpSpPr>
          <a:xfrm rot="0">
            <a:off x="7130773" y="8573451"/>
            <a:ext cx="223376" cy="22337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11" id="11"/>
          <p:cNvGrpSpPr/>
          <p:nvPr/>
        </p:nvGrpSpPr>
        <p:grpSpPr>
          <a:xfrm rot="0">
            <a:off x="7130773" y="4235848"/>
            <a:ext cx="223376" cy="22337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14" id="14"/>
          <p:cNvGrpSpPr/>
          <p:nvPr/>
        </p:nvGrpSpPr>
        <p:grpSpPr>
          <a:xfrm rot="0">
            <a:off x="7130773" y="5072945"/>
            <a:ext cx="223376" cy="22337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grpSp>
        <p:nvGrpSpPr>
          <p:cNvPr name="Group 17" id="17"/>
          <p:cNvGrpSpPr/>
          <p:nvPr/>
        </p:nvGrpSpPr>
        <p:grpSpPr>
          <a:xfrm rot="0">
            <a:off x="7130773" y="7740475"/>
            <a:ext cx="223376" cy="22337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sp>
        <p:nvSpPr>
          <p:cNvPr name="Freeform 20" id="20"/>
          <p:cNvSpPr/>
          <p:nvPr/>
        </p:nvSpPr>
        <p:spPr>
          <a:xfrm flipH="false" flipV="false" rot="-5400000">
            <a:off x="-2524664" y="1886340"/>
            <a:ext cx="12568167" cy="5461440"/>
          </a:xfrm>
          <a:custGeom>
            <a:avLst/>
            <a:gdLst/>
            <a:ahLst/>
            <a:cxnLst/>
            <a:rect r="r" b="b" t="t" l="l"/>
            <a:pathLst>
              <a:path h="5461440" w="12568167">
                <a:moveTo>
                  <a:pt x="0" y="0"/>
                </a:moveTo>
                <a:lnTo>
                  <a:pt x="12568167" y="0"/>
                </a:lnTo>
                <a:lnTo>
                  <a:pt x="12568167" y="5461439"/>
                </a:lnTo>
                <a:lnTo>
                  <a:pt x="0" y="5461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1" id="21"/>
          <p:cNvSpPr/>
          <p:nvPr/>
        </p:nvSpPr>
        <p:spPr>
          <a:xfrm flipH="false" flipV="false" rot="0">
            <a:off x="1809683" y="2495188"/>
            <a:ext cx="3899474" cy="4622222"/>
          </a:xfrm>
          <a:custGeom>
            <a:avLst/>
            <a:gdLst/>
            <a:ahLst/>
            <a:cxnLst/>
            <a:rect r="r" b="b" t="t" l="l"/>
            <a:pathLst>
              <a:path h="4622222" w="3899474">
                <a:moveTo>
                  <a:pt x="0" y="0"/>
                </a:moveTo>
                <a:lnTo>
                  <a:pt x="3899474" y="0"/>
                </a:lnTo>
                <a:lnTo>
                  <a:pt x="3899474" y="4622222"/>
                </a:lnTo>
                <a:lnTo>
                  <a:pt x="0" y="46222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22" id="22"/>
          <p:cNvSpPr txBox="true"/>
          <p:nvPr/>
        </p:nvSpPr>
        <p:spPr>
          <a:xfrm rot="0">
            <a:off x="7593457" y="2274769"/>
            <a:ext cx="9500516" cy="784225"/>
          </a:xfrm>
          <a:prstGeom prst="rect">
            <a:avLst/>
          </a:prstGeom>
        </p:spPr>
        <p:txBody>
          <a:bodyPr anchor="t" rtlCol="false" tIns="0" lIns="0" bIns="0" rIns="0">
            <a:spAutoFit/>
          </a:bodyPr>
          <a:lstStyle/>
          <a:p>
            <a:pPr algn="l" marL="0" indent="0" lvl="0">
              <a:lnSpc>
                <a:spcPts val="3200"/>
              </a:lnSpc>
            </a:pPr>
            <a:r>
              <a:rPr lang="en-US" sz="2000" spc="10">
                <a:solidFill>
                  <a:srgbClr val="181D2B"/>
                </a:solidFill>
                <a:latin typeface="Open Sauce"/>
                <a:ea typeface="Open Sauce"/>
                <a:cs typeface="Open Sauce"/>
                <a:sym typeface="Open Sauce"/>
              </a:rPr>
              <a:t>1. Chất lượng không khí tổng thể của Hà Nội trong giai đoạn 2022 - 2025 có xu </a:t>
            </a:r>
            <a:r>
              <a:rPr lang="en-US" sz="2000" spc="10">
                <a:solidFill>
                  <a:srgbClr val="181D2B"/>
                </a:solidFill>
                <a:latin typeface="Open Sauce"/>
                <a:ea typeface="Open Sauce"/>
                <a:cs typeface="Open Sauce"/>
                <a:sym typeface="Open Sauce"/>
              </a:rPr>
              <a:t>hướng cải thiện hay ngày càng nghiêm trọng hơn qua các năm?</a:t>
            </a:r>
          </a:p>
        </p:txBody>
      </p:sp>
      <p:sp>
        <p:nvSpPr>
          <p:cNvPr name="TextBox 23" id="23"/>
          <p:cNvSpPr txBox="true"/>
          <p:nvPr/>
        </p:nvSpPr>
        <p:spPr>
          <a:xfrm rot="0">
            <a:off x="7354150" y="704850"/>
            <a:ext cx="9410318" cy="1384300"/>
          </a:xfrm>
          <a:prstGeom prst="rect">
            <a:avLst/>
          </a:prstGeom>
        </p:spPr>
        <p:txBody>
          <a:bodyPr anchor="t" rtlCol="false" tIns="0" lIns="0" bIns="0" rIns="0">
            <a:spAutoFit/>
          </a:bodyPr>
          <a:lstStyle/>
          <a:p>
            <a:pPr algn="l" marL="0" indent="0" lvl="0">
              <a:lnSpc>
                <a:spcPts val="9799"/>
              </a:lnSpc>
            </a:pPr>
            <a:r>
              <a:rPr lang="en-US" b="true" sz="6999">
                <a:solidFill>
                  <a:srgbClr val="2B598F"/>
                </a:solidFill>
                <a:latin typeface="Agrandir Bold"/>
                <a:ea typeface="Agrandir Bold"/>
                <a:cs typeface="Agrandir Bold"/>
                <a:sym typeface="Agrandir Bold"/>
              </a:rPr>
              <a:t>Các câu hỏi mục tiêu</a:t>
            </a:r>
          </a:p>
        </p:txBody>
      </p:sp>
      <p:grpSp>
        <p:nvGrpSpPr>
          <p:cNvPr name="Group 24" id="24"/>
          <p:cNvGrpSpPr/>
          <p:nvPr/>
        </p:nvGrpSpPr>
        <p:grpSpPr>
          <a:xfrm rot="0">
            <a:off x="7130773" y="6183598"/>
            <a:ext cx="223376" cy="22337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A47B"/>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3135"/>
                </a:lnSpc>
              </a:pPr>
            </a:p>
          </p:txBody>
        </p:sp>
      </p:grpSp>
      <p:sp>
        <p:nvSpPr>
          <p:cNvPr name="TextBox 27" id="27"/>
          <p:cNvSpPr txBox="true"/>
          <p:nvPr/>
        </p:nvSpPr>
        <p:spPr>
          <a:xfrm rot="0">
            <a:off x="7593457" y="3395036"/>
            <a:ext cx="9500516" cy="384175"/>
          </a:xfrm>
          <a:prstGeom prst="rect">
            <a:avLst/>
          </a:prstGeom>
        </p:spPr>
        <p:txBody>
          <a:bodyPr anchor="t" rtlCol="false" tIns="0" lIns="0" bIns="0" rIns="0">
            <a:spAutoFit/>
          </a:bodyPr>
          <a:lstStyle/>
          <a:p>
            <a:pPr algn="l" marL="0" indent="0" lvl="0">
              <a:lnSpc>
                <a:spcPts val="3200"/>
              </a:lnSpc>
            </a:pPr>
            <a:r>
              <a:rPr lang="en-US" sz="2000" spc="10">
                <a:solidFill>
                  <a:srgbClr val="181D2B"/>
                </a:solidFill>
                <a:latin typeface="Open Sauce"/>
                <a:ea typeface="Open Sauce"/>
                <a:cs typeface="Open Sauce"/>
                <a:sym typeface="Open Sauce"/>
              </a:rPr>
              <a:t>2.  Mùa nào trong năm có mức ô nhiễm không khí cao nhất?</a:t>
            </a:r>
          </a:p>
        </p:txBody>
      </p:sp>
      <p:sp>
        <p:nvSpPr>
          <p:cNvPr name="TextBox 28" id="28"/>
          <p:cNvSpPr txBox="true"/>
          <p:nvPr/>
        </p:nvSpPr>
        <p:spPr>
          <a:xfrm rot="0">
            <a:off x="7593457" y="4112586"/>
            <a:ext cx="9500516" cy="384175"/>
          </a:xfrm>
          <a:prstGeom prst="rect">
            <a:avLst/>
          </a:prstGeom>
        </p:spPr>
        <p:txBody>
          <a:bodyPr anchor="t" rtlCol="false" tIns="0" lIns="0" bIns="0" rIns="0">
            <a:spAutoFit/>
          </a:bodyPr>
          <a:lstStyle/>
          <a:p>
            <a:pPr algn="l">
              <a:lnSpc>
                <a:spcPts val="3200"/>
              </a:lnSpc>
            </a:pPr>
            <a:r>
              <a:rPr lang="en-US" sz="2000" spc="10">
                <a:solidFill>
                  <a:srgbClr val="181D2B"/>
                </a:solidFill>
                <a:latin typeface="Open Sauce"/>
                <a:ea typeface="Open Sauce"/>
                <a:cs typeface="Open Sauce"/>
                <a:sym typeface="Open Sauce"/>
              </a:rPr>
              <a:t>3. Trong một ngày, chỉ số bụi mịn thường đạt đỉnh vào những khung giờ nào?</a:t>
            </a:r>
          </a:p>
        </p:txBody>
      </p:sp>
      <p:sp>
        <p:nvSpPr>
          <p:cNvPr name="TextBox 29" id="29"/>
          <p:cNvSpPr txBox="true"/>
          <p:nvPr/>
        </p:nvSpPr>
        <p:spPr>
          <a:xfrm rot="0">
            <a:off x="7593457" y="4949684"/>
            <a:ext cx="9500516" cy="784225"/>
          </a:xfrm>
          <a:prstGeom prst="rect">
            <a:avLst/>
          </a:prstGeom>
        </p:spPr>
        <p:txBody>
          <a:bodyPr anchor="t" rtlCol="false" tIns="0" lIns="0" bIns="0" rIns="0">
            <a:spAutoFit/>
          </a:bodyPr>
          <a:lstStyle/>
          <a:p>
            <a:pPr algn="l">
              <a:lnSpc>
                <a:spcPts val="3200"/>
              </a:lnSpc>
            </a:pPr>
            <a:r>
              <a:rPr lang="en-US" sz="2000" spc="10">
                <a:solidFill>
                  <a:srgbClr val="181D2B"/>
                </a:solidFill>
                <a:latin typeface="Open Sauce"/>
                <a:ea typeface="Open Sauce"/>
                <a:cs typeface="Open Sauce"/>
                <a:sym typeface="Open Sauce"/>
              </a:rPr>
              <a:t>4. Có sự khác biệt đáng kể về AQI giữa ngày thường (Weekday) và cuối tuần</a:t>
            </a:r>
          </a:p>
          <a:p>
            <a:pPr algn="l">
              <a:lnSpc>
                <a:spcPts val="3200"/>
              </a:lnSpc>
            </a:pPr>
            <a:r>
              <a:rPr lang="en-US" sz="2000" spc="10">
                <a:solidFill>
                  <a:srgbClr val="181D2B"/>
                </a:solidFill>
                <a:latin typeface="Open Sauce"/>
                <a:ea typeface="Open Sauce"/>
                <a:cs typeface="Open Sauce"/>
                <a:sym typeface="Open Sauce"/>
              </a:rPr>
              <a:t>(Weekend) hay không?</a:t>
            </a:r>
          </a:p>
        </p:txBody>
      </p:sp>
      <p:sp>
        <p:nvSpPr>
          <p:cNvPr name="TextBox 30" id="30"/>
          <p:cNvSpPr txBox="true"/>
          <p:nvPr/>
        </p:nvSpPr>
        <p:spPr>
          <a:xfrm rot="0">
            <a:off x="7593457" y="6067284"/>
            <a:ext cx="9500516" cy="1184275"/>
          </a:xfrm>
          <a:prstGeom prst="rect">
            <a:avLst/>
          </a:prstGeom>
        </p:spPr>
        <p:txBody>
          <a:bodyPr anchor="t" rtlCol="false" tIns="0" lIns="0" bIns="0" rIns="0">
            <a:spAutoFit/>
          </a:bodyPr>
          <a:lstStyle/>
          <a:p>
            <a:pPr algn="just">
              <a:lnSpc>
                <a:spcPts val="3200"/>
              </a:lnSpc>
            </a:pPr>
            <a:r>
              <a:rPr lang="en-US" sz="2000" spc="10">
                <a:solidFill>
                  <a:srgbClr val="181D2B"/>
                </a:solidFill>
                <a:latin typeface="Open Sauce"/>
                <a:ea typeface="Open Sauce"/>
                <a:cs typeface="Open Sauce"/>
                <a:sym typeface="Open Sauce"/>
              </a:rPr>
              <a:t>5. Mối quan hệ giữa chỉ số AQI và các yếu tố môi trường (PM2.5, PM10,</a:t>
            </a:r>
          </a:p>
          <a:p>
            <a:pPr algn="just">
              <a:lnSpc>
                <a:spcPts val="3200"/>
              </a:lnSpc>
            </a:pPr>
            <a:r>
              <a:rPr lang="en-US" sz="2000" spc="10">
                <a:solidFill>
                  <a:srgbClr val="181D2B"/>
                </a:solidFill>
                <a:latin typeface="Open Sauce"/>
                <a:ea typeface="Open Sauce"/>
                <a:cs typeface="Open Sauce"/>
                <a:sym typeface="Open Sauce"/>
              </a:rPr>
              <a:t>nhiệt độ, độ ẩm, tốc độ gió) như thế nào? Chỉ số nào ảnh hưởng mạnh nhất đến AQI?</a:t>
            </a:r>
          </a:p>
        </p:txBody>
      </p:sp>
      <p:sp>
        <p:nvSpPr>
          <p:cNvPr name="TextBox 31" id="31"/>
          <p:cNvSpPr txBox="true"/>
          <p:nvPr/>
        </p:nvSpPr>
        <p:spPr>
          <a:xfrm rot="0">
            <a:off x="7593457" y="7617213"/>
            <a:ext cx="9500516" cy="384175"/>
          </a:xfrm>
          <a:prstGeom prst="rect">
            <a:avLst/>
          </a:prstGeom>
        </p:spPr>
        <p:txBody>
          <a:bodyPr anchor="t" rtlCol="false" tIns="0" lIns="0" bIns="0" rIns="0">
            <a:spAutoFit/>
          </a:bodyPr>
          <a:lstStyle/>
          <a:p>
            <a:pPr algn="just">
              <a:lnSpc>
                <a:spcPts val="3200"/>
              </a:lnSpc>
            </a:pPr>
            <a:r>
              <a:rPr lang="en-US" sz="2000" spc="10">
                <a:solidFill>
                  <a:srgbClr val="181D2B"/>
                </a:solidFill>
                <a:latin typeface="Open Sauce"/>
                <a:ea typeface="Open Sauce"/>
                <a:cs typeface="Open Sauce"/>
                <a:sym typeface="Open Sauce"/>
              </a:rPr>
              <a:t>6. Dự báo chỉ số AQI của ngày mai tại Hà Nội sẽ là bao nhiêu?</a:t>
            </a:r>
          </a:p>
        </p:txBody>
      </p:sp>
      <p:sp>
        <p:nvSpPr>
          <p:cNvPr name="TextBox 32" id="32"/>
          <p:cNvSpPr txBox="true"/>
          <p:nvPr/>
        </p:nvSpPr>
        <p:spPr>
          <a:xfrm rot="0">
            <a:off x="7593457" y="8438052"/>
            <a:ext cx="9500516" cy="784225"/>
          </a:xfrm>
          <a:prstGeom prst="rect">
            <a:avLst/>
          </a:prstGeom>
        </p:spPr>
        <p:txBody>
          <a:bodyPr anchor="t" rtlCol="false" tIns="0" lIns="0" bIns="0" rIns="0">
            <a:spAutoFit/>
          </a:bodyPr>
          <a:lstStyle/>
          <a:p>
            <a:pPr algn="just">
              <a:lnSpc>
                <a:spcPts val="3200"/>
              </a:lnSpc>
            </a:pPr>
            <a:r>
              <a:rPr lang="en-US" sz="2000" spc="10">
                <a:solidFill>
                  <a:srgbClr val="181D2B"/>
                </a:solidFill>
                <a:latin typeface="Open Sauce"/>
                <a:ea typeface="Open Sauce"/>
                <a:cs typeface="Open Sauce"/>
                <a:sym typeface="Open Sauce"/>
              </a:rPr>
              <a:t>7. Tiến hành phân cụm các tháng trong giai đoạn 2022-2025 để tìm ra chính xác "mùa ô nhiễm cao điểm" của thủ đô diễn ra từ tháng mấy đến tháng mấy.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grpSp>
        <p:nvGrpSpPr>
          <p:cNvPr name="Group 2" id="2"/>
          <p:cNvGrpSpPr/>
          <p:nvPr/>
        </p:nvGrpSpPr>
        <p:grpSpPr>
          <a:xfrm rot="0">
            <a:off x="1028700" y="4218294"/>
            <a:ext cx="4802016" cy="4479196"/>
            <a:chOff x="0" y="0"/>
            <a:chExt cx="1267130" cy="1181946"/>
          </a:xfrm>
        </p:grpSpPr>
        <p:sp>
          <p:nvSpPr>
            <p:cNvPr name="Freeform 3" id="3"/>
            <p:cNvSpPr/>
            <p:nvPr/>
          </p:nvSpPr>
          <p:spPr>
            <a:xfrm flipH="false" flipV="false" rot="0">
              <a:off x="0" y="0"/>
              <a:ext cx="1267130" cy="1181946"/>
            </a:xfrm>
            <a:custGeom>
              <a:avLst/>
              <a:gdLst/>
              <a:ahLst/>
              <a:cxnLst/>
              <a:rect r="r" b="b" t="t" l="l"/>
              <a:pathLst>
                <a:path h="1181946" w="1267130">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sp>
        <p:sp>
          <p:nvSpPr>
            <p:cNvPr name="TextBox 4" id="4"/>
            <p:cNvSpPr txBox="true"/>
            <p:nvPr/>
          </p:nvSpPr>
          <p:spPr>
            <a:xfrm>
              <a:off x="0" y="-38100"/>
              <a:ext cx="1267130" cy="1220046"/>
            </a:xfrm>
            <a:prstGeom prst="rect">
              <a:avLst/>
            </a:prstGeom>
          </p:spPr>
          <p:txBody>
            <a:bodyPr anchor="ctr" rtlCol="false" tIns="50704" lIns="50704" bIns="50704" rIns="50704"/>
            <a:lstStyle/>
            <a:p>
              <a:pPr algn="ctr" marL="0" indent="0" lvl="0">
                <a:lnSpc>
                  <a:spcPts val="3135"/>
                </a:lnSpc>
              </a:pPr>
            </a:p>
          </p:txBody>
        </p:sp>
      </p:grpSp>
      <p:grpSp>
        <p:nvGrpSpPr>
          <p:cNvPr name="Group 5" id="5"/>
          <p:cNvGrpSpPr/>
          <p:nvPr/>
        </p:nvGrpSpPr>
        <p:grpSpPr>
          <a:xfrm rot="0">
            <a:off x="12457284" y="2085444"/>
            <a:ext cx="4802016" cy="4479196"/>
            <a:chOff x="0" y="0"/>
            <a:chExt cx="1267130" cy="1181946"/>
          </a:xfrm>
        </p:grpSpPr>
        <p:sp>
          <p:nvSpPr>
            <p:cNvPr name="Freeform 6" id="6"/>
            <p:cNvSpPr/>
            <p:nvPr/>
          </p:nvSpPr>
          <p:spPr>
            <a:xfrm flipH="false" flipV="false" rot="0">
              <a:off x="0" y="0"/>
              <a:ext cx="1267130" cy="1181946"/>
            </a:xfrm>
            <a:custGeom>
              <a:avLst/>
              <a:gdLst/>
              <a:ahLst/>
              <a:cxnLst/>
              <a:rect r="r" b="b" t="t" l="l"/>
              <a:pathLst>
                <a:path h="1181946" w="1267130">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sp>
        <p:sp>
          <p:nvSpPr>
            <p:cNvPr name="TextBox 7" id="7"/>
            <p:cNvSpPr txBox="true"/>
            <p:nvPr/>
          </p:nvSpPr>
          <p:spPr>
            <a:xfrm>
              <a:off x="0" y="-38100"/>
              <a:ext cx="1267130" cy="1220046"/>
            </a:xfrm>
            <a:prstGeom prst="rect">
              <a:avLst/>
            </a:prstGeom>
          </p:spPr>
          <p:txBody>
            <a:bodyPr anchor="ctr" rtlCol="false" tIns="50704" lIns="50704" bIns="50704" rIns="50704"/>
            <a:lstStyle/>
            <a:p>
              <a:pPr algn="ctr" marL="0" indent="0" lvl="0">
                <a:lnSpc>
                  <a:spcPts val="3135"/>
                </a:lnSpc>
              </a:pPr>
            </a:p>
          </p:txBody>
        </p:sp>
      </p:grpSp>
      <p:grpSp>
        <p:nvGrpSpPr>
          <p:cNvPr name="Group 8" id="8"/>
          <p:cNvGrpSpPr/>
          <p:nvPr/>
        </p:nvGrpSpPr>
        <p:grpSpPr>
          <a:xfrm rot="0">
            <a:off x="6742992" y="3151869"/>
            <a:ext cx="4802016" cy="4479196"/>
            <a:chOff x="0" y="0"/>
            <a:chExt cx="1267130" cy="1181946"/>
          </a:xfrm>
        </p:grpSpPr>
        <p:sp>
          <p:nvSpPr>
            <p:cNvPr name="Freeform 9" id="9"/>
            <p:cNvSpPr/>
            <p:nvPr/>
          </p:nvSpPr>
          <p:spPr>
            <a:xfrm flipH="false" flipV="false" rot="0">
              <a:off x="0" y="0"/>
              <a:ext cx="1267130" cy="1181946"/>
            </a:xfrm>
            <a:custGeom>
              <a:avLst/>
              <a:gdLst/>
              <a:ahLst/>
              <a:cxnLst/>
              <a:rect r="r" b="b" t="t" l="l"/>
              <a:pathLst>
                <a:path h="1181946" w="1267130">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sp>
        <p:sp>
          <p:nvSpPr>
            <p:cNvPr name="TextBox 10" id="10"/>
            <p:cNvSpPr txBox="true"/>
            <p:nvPr/>
          </p:nvSpPr>
          <p:spPr>
            <a:xfrm>
              <a:off x="0" y="-38100"/>
              <a:ext cx="1267130" cy="1220046"/>
            </a:xfrm>
            <a:prstGeom prst="rect">
              <a:avLst/>
            </a:prstGeom>
          </p:spPr>
          <p:txBody>
            <a:bodyPr anchor="ctr" rtlCol="false" tIns="50704" lIns="50704" bIns="50704" rIns="50704"/>
            <a:lstStyle/>
            <a:p>
              <a:pPr algn="ctr" marL="0" indent="0" lvl="0">
                <a:lnSpc>
                  <a:spcPts val="3135"/>
                </a:lnSpc>
              </a:pPr>
            </a:p>
          </p:txBody>
        </p:sp>
      </p:grpSp>
      <p:sp>
        <p:nvSpPr>
          <p:cNvPr name="TextBox 11" id="11"/>
          <p:cNvSpPr txBox="true"/>
          <p:nvPr/>
        </p:nvSpPr>
        <p:spPr>
          <a:xfrm rot="0">
            <a:off x="7156122" y="3469992"/>
            <a:ext cx="3784832" cy="339930"/>
          </a:xfrm>
          <a:prstGeom prst="rect">
            <a:avLst/>
          </a:prstGeom>
        </p:spPr>
        <p:txBody>
          <a:bodyPr anchor="t" rtlCol="false" tIns="0" lIns="0" bIns="0" rIns="0">
            <a:spAutoFit/>
          </a:bodyPr>
          <a:lstStyle/>
          <a:p>
            <a:pPr algn="l" marL="0" indent="0" lvl="0">
              <a:lnSpc>
                <a:spcPts val="2788"/>
              </a:lnSpc>
              <a:spcBef>
                <a:spcPct val="0"/>
              </a:spcBef>
            </a:pPr>
            <a:r>
              <a:rPr lang="en-US" b="true" sz="1991" spc="9">
                <a:solidFill>
                  <a:srgbClr val="181D2B"/>
                </a:solidFill>
                <a:latin typeface="Open Sauce Bold"/>
                <a:ea typeface="Open Sauce Bold"/>
                <a:cs typeface="Open Sauce Bold"/>
                <a:sym typeface="Open Sauce Bold"/>
              </a:rPr>
              <a:t>Bước 2</a:t>
            </a:r>
          </a:p>
        </p:txBody>
      </p:sp>
      <p:sp>
        <p:nvSpPr>
          <p:cNvPr name="TextBox 12" id="12"/>
          <p:cNvSpPr txBox="true"/>
          <p:nvPr/>
        </p:nvSpPr>
        <p:spPr>
          <a:xfrm rot="0">
            <a:off x="7156122" y="4048051"/>
            <a:ext cx="4011851" cy="2248544"/>
          </a:xfrm>
          <a:prstGeom prst="rect">
            <a:avLst/>
          </a:prstGeom>
        </p:spPr>
        <p:txBody>
          <a:bodyPr anchor="t" rtlCol="false" tIns="0" lIns="0" bIns="0" rIns="0">
            <a:spAutoFit/>
          </a:bodyPr>
          <a:lstStyle/>
          <a:p>
            <a:pPr algn="l" marL="399341" indent="-199671" lvl="1">
              <a:lnSpc>
                <a:spcPts val="2589"/>
              </a:lnSpc>
              <a:buFont typeface="Arial"/>
              <a:buChar char="•"/>
            </a:pPr>
            <a:r>
              <a:rPr lang="en-US" sz="1849" spc="9">
                <a:solidFill>
                  <a:srgbClr val="181D2B"/>
                </a:solidFill>
                <a:latin typeface="Open Sauce"/>
                <a:ea typeface="Open Sauce"/>
                <a:cs typeface="Open Sauce"/>
                <a:sym typeface="Open Sauce"/>
              </a:rPr>
              <a:t>Xử lý định dạng thời gian: chuyển đổi cột Local Time sang kiểu dữ liệu datetime64</a:t>
            </a:r>
          </a:p>
          <a:p>
            <a:pPr algn="l" marL="399341" indent="-199671" lvl="1">
              <a:lnSpc>
                <a:spcPts val="2589"/>
              </a:lnSpc>
              <a:buFont typeface="Arial"/>
              <a:buChar char="•"/>
            </a:pPr>
            <a:r>
              <a:rPr lang="en-US" sz="1849" spc="9">
                <a:solidFill>
                  <a:srgbClr val="181D2B"/>
                </a:solidFill>
                <a:latin typeface="Open Sauce"/>
                <a:ea typeface="Open Sauce"/>
                <a:cs typeface="Open Sauce"/>
                <a:sym typeface="Open Sauce"/>
              </a:rPr>
              <a:t>Trích xuất đặc trưng thời gian phục vụ phân tích: Year, Month, Hour, và gắn nhãn IsWeekend</a:t>
            </a:r>
          </a:p>
          <a:p>
            <a:pPr algn="l" marL="0" indent="0" lvl="0">
              <a:lnSpc>
                <a:spcPts val="2589"/>
              </a:lnSpc>
              <a:spcBef>
                <a:spcPct val="0"/>
              </a:spcBef>
            </a:pPr>
          </a:p>
        </p:txBody>
      </p:sp>
      <p:sp>
        <p:nvSpPr>
          <p:cNvPr name="Freeform 13" id="13"/>
          <p:cNvSpPr/>
          <p:nvPr/>
        </p:nvSpPr>
        <p:spPr>
          <a:xfrm flipH="false" flipV="false" rot="1433494">
            <a:off x="4930128" y="2970811"/>
            <a:ext cx="1413072" cy="1379521"/>
          </a:xfrm>
          <a:custGeom>
            <a:avLst/>
            <a:gdLst/>
            <a:ahLst/>
            <a:cxnLst/>
            <a:rect r="r" b="b" t="t" l="l"/>
            <a:pathLst>
              <a:path h="1379521" w="1413072">
                <a:moveTo>
                  <a:pt x="0" y="0"/>
                </a:moveTo>
                <a:lnTo>
                  <a:pt x="1413072" y="0"/>
                </a:lnTo>
                <a:lnTo>
                  <a:pt x="1413072" y="1379521"/>
                </a:lnTo>
                <a:lnTo>
                  <a:pt x="0" y="137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028700" y="723900"/>
            <a:ext cx="10516308" cy="1300216"/>
          </a:xfrm>
          <a:prstGeom prst="rect">
            <a:avLst/>
          </a:prstGeom>
        </p:spPr>
        <p:txBody>
          <a:bodyPr anchor="t" rtlCol="false" tIns="0" lIns="0" bIns="0" rIns="0">
            <a:spAutoFit/>
          </a:bodyPr>
          <a:lstStyle/>
          <a:p>
            <a:pPr algn="l" marL="0" indent="0" lvl="0">
              <a:lnSpc>
                <a:spcPts val="9184"/>
              </a:lnSpc>
              <a:spcBef>
                <a:spcPct val="0"/>
              </a:spcBef>
            </a:pPr>
            <a:r>
              <a:rPr lang="en-US" b="true" sz="6560" strike="noStrike" u="none">
                <a:solidFill>
                  <a:srgbClr val="2B598F"/>
                </a:solidFill>
                <a:latin typeface="Agrandir Bold"/>
                <a:ea typeface="Agrandir Bold"/>
                <a:cs typeface="Agrandir Bold"/>
                <a:sym typeface="Agrandir Bold"/>
              </a:rPr>
              <a:t>Quy trình xử lý dữ liệu</a:t>
            </a:r>
          </a:p>
        </p:txBody>
      </p:sp>
      <p:sp>
        <p:nvSpPr>
          <p:cNvPr name="Freeform 15" id="15"/>
          <p:cNvSpPr/>
          <p:nvPr/>
        </p:nvSpPr>
        <p:spPr>
          <a:xfrm flipH="false" flipV="false" rot="1433494">
            <a:off x="10649180" y="1938069"/>
            <a:ext cx="1413072" cy="1379521"/>
          </a:xfrm>
          <a:custGeom>
            <a:avLst/>
            <a:gdLst/>
            <a:ahLst/>
            <a:cxnLst/>
            <a:rect r="r" b="b" t="t" l="l"/>
            <a:pathLst>
              <a:path h="1379521" w="1413072">
                <a:moveTo>
                  <a:pt x="0" y="0"/>
                </a:moveTo>
                <a:lnTo>
                  <a:pt x="1413072" y="0"/>
                </a:lnTo>
                <a:lnTo>
                  <a:pt x="1413072" y="1379521"/>
                </a:lnTo>
                <a:lnTo>
                  <a:pt x="0" y="137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441830" y="4536417"/>
            <a:ext cx="3784832" cy="339930"/>
          </a:xfrm>
          <a:prstGeom prst="rect">
            <a:avLst/>
          </a:prstGeom>
        </p:spPr>
        <p:txBody>
          <a:bodyPr anchor="t" rtlCol="false" tIns="0" lIns="0" bIns="0" rIns="0">
            <a:spAutoFit/>
          </a:bodyPr>
          <a:lstStyle/>
          <a:p>
            <a:pPr algn="l" marL="0" indent="0" lvl="0">
              <a:lnSpc>
                <a:spcPts val="2788"/>
              </a:lnSpc>
              <a:spcBef>
                <a:spcPct val="0"/>
              </a:spcBef>
            </a:pPr>
            <a:r>
              <a:rPr lang="en-US" b="true" sz="1991" spc="9">
                <a:solidFill>
                  <a:srgbClr val="181D2B"/>
                </a:solidFill>
                <a:latin typeface="Open Sauce Bold"/>
                <a:ea typeface="Open Sauce Bold"/>
                <a:cs typeface="Open Sauce Bold"/>
                <a:sym typeface="Open Sauce Bold"/>
              </a:rPr>
              <a:t>Bước 1</a:t>
            </a:r>
          </a:p>
        </p:txBody>
      </p:sp>
      <p:sp>
        <p:nvSpPr>
          <p:cNvPr name="TextBox 17" id="17"/>
          <p:cNvSpPr txBox="true"/>
          <p:nvPr/>
        </p:nvSpPr>
        <p:spPr>
          <a:xfrm rot="0">
            <a:off x="1441830" y="5114477"/>
            <a:ext cx="4011851" cy="1924694"/>
          </a:xfrm>
          <a:prstGeom prst="rect">
            <a:avLst/>
          </a:prstGeom>
        </p:spPr>
        <p:txBody>
          <a:bodyPr anchor="t" rtlCol="false" tIns="0" lIns="0" bIns="0" rIns="0">
            <a:spAutoFit/>
          </a:bodyPr>
          <a:lstStyle/>
          <a:p>
            <a:pPr algn="just" marL="0" indent="0" lvl="0">
              <a:lnSpc>
                <a:spcPts val="2589"/>
              </a:lnSpc>
              <a:spcBef>
                <a:spcPct val="0"/>
              </a:spcBef>
            </a:pPr>
            <a:r>
              <a:rPr lang="en-US" sz="1849" spc="9">
                <a:solidFill>
                  <a:srgbClr val="181D2B"/>
                </a:solidFill>
                <a:latin typeface="Open Sauce"/>
                <a:ea typeface="Open Sauce"/>
                <a:cs typeface="Open Sauce"/>
                <a:sym typeface="Open Sauce"/>
              </a:rPr>
              <a:t>Đọc</a:t>
            </a:r>
            <a:r>
              <a:rPr lang="en-US" sz="1849" spc="9" strike="noStrike" u="none">
                <a:solidFill>
                  <a:srgbClr val="181D2B"/>
                </a:solidFill>
                <a:latin typeface="Open Sauce"/>
                <a:ea typeface="Open Sauce"/>
                <a:cs typeface="Open Sauce"/>
                <a:sym typeface="Open Sauce"/>
              </a:rPr>
              <a:t> và làm sạch dữ liệu từng năm.</a:t>
            </a:r>
          </a:p>
          <a:p>
            <a:pPr algn="just" marL="399341" indent="-199671" lvl="1">
              <a:lnSpc>
                <a:spcPts val="2589"/>
              </a:lnSpc>
              <a:buFont typeface="Arial"/>
              <a:buChar char="•"/>
            </a:pPr>
            <a:r>
              <a:rPr lang="en-US" sz="1849" spc="9" strike="noStrike" u="none">
                <a:solidFill>
                  <a:srgbClr val="181D2B"/>
                </a:solidFill>
                <a:latin typeface="Open Sauce"/>
                <a:ea typeface="Open Sauce"/>
                <a:cs typeface="Open Sauce"/>
                <a:sym typeface="Open Sauce"/>
              </a:rPr>
              <a:t>Sử dụng hàm chuẩn hóa ký tự .str.strip().str.title() để ép các tên cột về cùng một định dạng</a:t>
            </a:r>
          </a:p>
          <a:p>
            <a:pPr algn="just" marL="399341" indent="-199671" lvl="1">
              <a:lnSpc>
                <a:spcPts val="2589"/>
              </a:lnSpc>
              <a:buFont typeface="Arial"/>
              <a:buChar char="•"/>
            </a:pPr>
            <a:r>
              <a:rPr lang="en-US" sz="1849" spc="9" strike="noStrike" u="none">
                <a:solidFill>
                  <a:srgbClr val="181D2B"/>
                </a:solidFill>
                <a:latin typeface="Open Sauce"/>
                <a:ea typeface="Open Sauce"/>
                <a:cs typeface="Open Sauce"/>
                <a:sym typeface="Open Sauce"/>
              </a:rPr>
              <a:t>Gộp dữ liệu</a:t>
            </a:r>
          </a:p>
          <a:p>
            <a:pPr algn="just" marL="0" indent="0" lvl="0">
              <a:lnSpc>
                <a:spcPts val="2589"/>
              </a:lnSpc>
              <a:spcBef>
                <a:spcPct val="0"/>
              </a:spcBef>
            </a:pPr>
          </a:p>
        </p:txBody>
      </p:sp>
      <p:sp>
        <p:nvSpPr>
          <p:cNvPr name="TextBox 18" id="18"/>
          <p:cNvSpPr txBox="true"/>
          <p:nvPr/>
        </p:nvSpPr>
        <p:spPr>
          <a:xfrm rot="0">
            <a:off x="12870414" y="2403567"/>
            <a:ext cx="3784832" cy="339930"/>
          </a:xfrm>
          <a:prstGeom prst="rect">
            <a:avLst/>
          </a:prstGeom>
        </p:spPr>
        <p:txBody>
          <a:bodyPr anchor="t" rtlCol="false" tIns="0" lIns="0" bIns="0" rIns="0">
            <a:spAutoFit/>
          </a:bodyPr>
          <a:lstStyle/>
          <a:p>
            <a:pPr algn="l" marL="0" indent="0" lvl="0">
              <a:lnSpc>
                <a:spcPts val="2788"/>
              </a:lnSpc>
              <a:spcBef>
                <a:spcPct val="0"/>
              </a:spcBef>
            </a:pPr>
            <a:r>
              <a:rPr lang="en-US" b="true" sz="1991" spc="9">
                <a:solidFill>
                  <a:srgbClr val="181D2B"/>
                </a:solidFill>
                <a:latin typeface="Open Sauce Bold"/>
                <a:ea typeface="Open Sauce Bold"/>
                <a:cs typeface="Open Sauce Bold"/>
                <a:sym typeface="Open Sauce Bold"/>
              </a:rPr>
              <a:t>Bước 3</a:t>
            </a:r>
          </a:p>
        </p:txBody>
      </p:sp>
      <p:sp>
        <p:nvSpPr>
          <p:cNvPr name="TextBox 19" id="19"/>
          <p:cNvSpPr txBox="true"/>
          <p:nvPr/>
        </p:nvSpPr>
        <p:spPr>
          <a:xfrm rot="0">
            <a:off x="12870414" y="2981626"/>
            <a:ext cx="4011851" cy="1600844"/>
          </a:xfrm>
          <a:prstGeom prst="rect">
            <a:avLst/>
          </a:prstGeom>
        </p:spPr>
        <p:txBody>
          <a:bodyPr anchor="t" rtlCol="false" tIns="0" lIns="0" bIns="0" rIns="0">
            <a:spAutoFit/>
          </a:bodyPr>
          <a:lstStyle/>
          <a:p>
            <a:pPr algn="l">
              <a:lnSpc>
                <a:spcPts val="2589"/>
              </a:lnSpc>
            </a:pPr>
            <a:r>
              <a:rPr lang="en-US" sz="1849" spc="9">
                <a:solidFill>
                  <a:srgbClr val="181D2B"/>
                </a:solidFill>
                <a:latin typeface="Open Sauce"/>
                <a:ea typeface="Open Sauce"/>
                <a:cs typeface="Open Sauce"/>
                <a:sym typeface="Open Sauce"/>
              </a:rPr>
              <a:t>Xử lý giá trị trống (missing values)</a:t>
            </a:r>
          </a:p>
          <a:p>
            <a:pPr algn="l">
              <a:lnSpc>
                <a:spcPts val="2589"/>
              </a:lnSpc>
            </a:pPr>
            <a:r>
              <a:rPr lang="en-US" sz="1849" spc="9">
                <a:solidFill>
                  <a:srgbClr val="181D2B"/>
                </a:solidFill>
                <a:latin typeface="Open Sauce"/>
                <a:ea typeface="Open Sauce"/>
                <a:cs typeface="Open Sauce"/>
                <a:sym typeface="Open Sauce"/>
              </a:rPr>
              <a:t>bằng phương pháp điền giá trị trung vị (median()) của từng</a:t>
            </a:r>
          </a:p>
          <a:p>
            <a:pPr algn="l" marL="0" indent="0" lvl="0">
              <a:lnSpc>
                <a:spcPts val="2589"/>
              </a:lnSpc>
              <a:spcBef>
                <a:spcPct val="0"/>
              </a:spcBef>
            </a:pPr>
            <a:r>
              <a:rPr lang="en-US" sz="1849" spc="9">
                <a:solidFill>
                  <a:srgbClr val="181D2B"/>
                </a:solidFill>
                <a:latin typeface="Open Sauce"/>
                <a:ea typeface="Open Sauce"/>
                <a:cs typeface="Open Sauce"/>
                <a:sym typeface="Open Sauce"/>
              </a:rPr>
              <a:t>cột để đảm bảo tính phân phối không bị lệch bởi các giá trị dị biệt.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TextBox 2" id="2"/>
          <p:cNvSpPr txBox="true"/>
          <p:nvPr/>
        </p:nvSpPr>
        <p:spPr>
          <a:xfrm rot="0">
            <a:off x="1561420" y="696686"/>
            <a:ext cx="14152457" cy="1209675"/>
          </a:xfrm>
          <a:prstGeom prst="rect">
            <a:avLst/>
          </a:prstGeom>
        </p:spPr>
        <p:txBody>
          <a:bodyPr anchor="t" rtlCol="false" tIns="0" lIns="0" bIns="0" rIns="0">
            <a:spAutoFit/>
          </a:bodyPr>
          <a:lstStyle/>
          <a:p>
            <a:pPr algn="l" marL="0" indent="0" lvl="0">
              <a:lnSpc>
                <a:spcPts val="8400"/>
              </a:lnSpc>
              <a:spcBef>
                <a:spcPct val="0"/>
              </a:spcBef>
            </a:pPr>
            <a:r>
              <a:rPr lang="en-US" b="true" sz="6000" strike="noStrike" u="none">
                <a:solidFill>
                  <a:srgbClr val="2B598F"/>
                </a:solidFill>
                <a:latin typeface="Agrandir Bold"/>
                <a:ea typeface="Agrandir Bold"/>
                <a:cs typeface="Agrandir Bold"/>
                <a:sym typeface="Agrandir Bold"/>
              </a:rPr>
              <a:t>Xu hướng AQI 2022–2025</a:t>
            </a:r>
          </a:p>
        </p:txBody>
      </p:sp>
      <p:sp>
        <p:nvSpPr>
          <p:cNvPr name="Freeform 3" id="3"/>
          <p:cNvSpPr/>
          <p:nvPr/>
        </p:nvSpPr>
        <p:spPr>
          <a:xfrm flipH="false" flipV="false" rot="5400000">
            <a:off x="3741" y="6175941"/>
            <a:ext cx="4107319" cy="4114800"/>
          </a:xfrm>
          <a:custGeom>
            <a:avLst/>
            <a:gdLst/>
            <a:ahLst/>
            <a:cxnLst/>
            <a:rect r="r" b="b" t="t" l="l"/>
            <a:pathLst>
              <a:path h="4114800" w="4107319">
                <a:moveTo>
                  <a:pt x="0" y="0"/>
                </a:moveTo>
                <a:lnTo>
                  <a:pt x="4107318" y="0"/>
                </a:lnTo>
                <a:lnTo>
                  <a:pt x="41073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1855485" y="2661816"/>
            <a:ext cx="6089124" cy="6596484"/>
            <a:chOff x="0" y="0"/>
            <a:chExt cx="1606765" cy="1740644"/>
          </a:xfrm>
        </p:grpSpPr>
        <p:sp>
          <p:nvSpPr>
            <p:cNvPr name="Freeform 5" id="5"/>
            <p:cNvSpPr/>
            <p:nvPr/>
          </p:nvSpPr>
          <p:spPr>
            <a:xfrm flipH="false" flipV="false" rot="0">
              <a:off x="0" y="0"/>
              <a:ext cx="1606765" cy="1740644"/>
            </a:xfrm>
            <a:custGeom>
              <a:avLst/>
              <a:gdLst/>
              <a:ahLst/>
              <a:cxnLst/>
              <a:rect r="r" b="b" t="t" l="l"/>
              <a:pathLst>
                <a:path h="1740644" w="1606765">
                  <a:moveTo>
                    <a:pt x="36872" y="0"/>
                  </a:moveTo>
                  <a:lnTo>
                    <a:pt x="1569893" y="0"/>
                  </a:lnTo>
                  <a:cubicBezTo>
                    <a:pt x="1579672" y="0"/>
                    <a:pt x="1589050" y="3885"/>
                    <a:pt x="1595965" y="10799"/>
                  </a:cubicBezTo>
                  <a:cubicBezTo>
                    <a:pt x="1602880" y="17714"/>
                    <a:pt x="1606765" y="27093"/>
                    <a:pt x="1606765" y="36872"/>
                  </a:cubicBezTo>
                  <a:lnTo>
                    <a:pt x="1606765" y="1703773"/>
                  </a:lnTo>
                  <a:cubicBezTo>
                    <a:pt x="1606765" y="1713552"/>
                    <a:pt x="1602880" y="1722930"/>
                    <a:pt x="1595965" y="1729845"/>
                  </a:cubicBezTo>
                  <a:cubicBezTo>
                    <a:pt x="1589050" y="1736759"/>
                    <a:pt x="1579672" y="1740644"/>
                    <a:pt x="1569893" y="1740644"/>
                  </a:cubicBezTo>
                  <a:lnTo>
                    <a:pt x="36872" y="1740644"/>
                  </a:lnTo>
                  <a:cubicBezTo>
                    <a:pt x="27093" y="1740644"/>
                    <a:pt x="17714" y="1736759"/>
                    <a:pt x="10799" y="1729845"/>
                  </a:cubicBezTo>
                  <a:cubicBezTo>
                    <a:pt x="3885" y="1722930"/>
                    <a:pt x="0" y="1713552"/>
                    <a:pt x="0" y="1703773"/>
                  </a:cubicBezTo>
                  <a:lnTo>
                    <a:pt x="0" y="36872"/>
                  </a:lnTo>
                  <a:cubicBezTo>
                    <a:pt x="0" y="27093"/>
                    <a:pt x="3885" y="17714"/>
                    <a:pt x="10799" y="10799"/>
                  </a:cubicBezTo>
                  <a:cubicBezTo>
                    <a:pt x="17714" y="3885"/>
                    <a:pt x="27093" y="0"/>
                    <a:pt x="36872" y="0"/>
                  </a:cubicBezTo>
                  <a:close/>
                </a:path>
              </a:pathLst>
            </a:custGeom>
            <a:solidFill>
              <a:srgbClr val="FFFFFE"/>
            </a:solidFill>
            <a:ln w="19050" cap="rnd">
              <a:solidFill>
                <a:srgbClr val="181D2B"/>
              </a:solidFill>
              <a:prstDash val="solid"/>
              <a:round/>
            </a:ln>
          </p:spPr>
        </p:sp>
        <p:sp>
          <p:nvSpPr>
            <p:cNvPr name="TextBox 6" id="6"/>
            <p:cNvSpPr txBox="true"/>
            <p:nvPr/>
          </p:nvSpPr>
          <p:spPr>
            <a:xfrm>
              <a:off x="0" y="-38100"/>
              <a:ext cx="1606765" cy="1778744"/>
            </a:xfrm>
            <a:prstGeom prst="rect">
              <a:avLst/>
            </a:prstGeom>
          </p:spPr>
          <p:txBody>
            <a:bodyPr anchor="ctr" rtlCol="false" tIns="50704" lIns="50704" bIns="50704" rIns="50704"/>
            <a:lstStyle/>
            <a:p>
              <a:pPr algn="ctr" marL="0" indent="0" lvl="0">
                <a:lnSpc>
                  <a:spcPts val="3135"/>
                </a:lnSpc>
              </a:pPr>
            </a:p>
          </p:txBody>
        </p:sp>
      </p:grpSp>
      <p:sp>
        <p:nvSpPr>
          <p:cNvPr name="Freeform 7" id="7"/>
          <p:cNvSpPr/>
          <p:nvPr/>
        </p:nvSpPr>
        <p:spPr>
          <a:xfrm flipH="false" flipV="false" rot="0">
            <a:off x="12132653" y="3289956"/>
            <a:ext cx="428104" cy="428104"/>
          </a:xfrm>
          <a:custGeom>
            <a:avLst/>
            <a:gdLst/>
            <a:ahLst/>
            <a:cxnLst/>
            <a:rect r="r" b="b" t="t" l="l"/>
            <a:pathLst>
              <a:path h="428104" w="428104">
                <a:moveTo>
                  <a:pt x="0" y="0"/>
                </a:moveTo>
                <a:lnTo>
                  <a:pt x="428104" y="0"/>
                </a:lnTo>
                <a:lnTo>
                  <a:pt x="428104" y="428104"/>
                </a:lnTo>
                <a:lnTo>
                  <a:pt x="0" y="4281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2132653" y="5531954"/>
            <a:ext cx="428104" cy="428104"/>
          </a:xfrm>
          <a:custGeom>
            <a:avLst/>
            <a:gdLst/>
            <a:ahLst/>
            <a:cxnLst/>
            <a:rect r="r" b="b" t="t" l="l"/>
            <a:pathLst>
              <a:path h="428104" w="428104">
                <a:moveTo>
                  <a:pt x="0" y="0"/>
                </a:moveTo>
                <a:lnTo>
                  <a:pt x="428104" y="0"/>
                </a:lnTo>
                <a:lnTo>
                  <a:pt x="428104" y="428104"/>
                </a:lnTo>
                <a:lnTo>
                  <a:pt x="0" y="4281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81743" y="3289956"/>
            <a:ext cx="10973742" cy="5884669"/>
          </a:xfrm>
          <a:custGeom>
            <a:avLst/>
            <a:gdLst/>
            <a:ahLst/>
            <a:cxnLst/>
            <a:rect r="r" b="b" t="t" l="l"/>
            <a:pathLst>
              <a:path h="5884669" w="10973742">
                <a:moveTo>
                  <a:pt x="0" y="0"/>
                </a:moveTo>
                <a:lnTo>
                  <a:pt x="10973742" y="0"/>
                </a:lnTo>
                <a:lnTo>
                  <a:pt x="10973742" y="5884669"/>
                </a:lnTo>
                <a:lnTo>
                  <a:pt x="0" y="5884669"/>
                </a:lnTo>
                <a:lnTo>
                  <a:pt x="0" y="0"/>
                </a:lnTo>
                <a:close/>
              </a:path>
            </a:pathLst>
          </a:custGeom>
          <a:blipFill>
            <a:blip r:embed="rId6"/>
            <a:stretch>
              <a:fillRect l="0" t="0" r="0" b="0"/>
            </a:stretch>
          </a:blipFill>
        </p:spPr>
      </p:sp>
      <p:sp>
        <p:nvSpPr>
          <p:cNvPr name="TextBox 10" id="10"/>
          <p:cNvSpPr txBox="true"/>
          <p:nvPr/>
        </p:nvSpPr>
        <p:spPr>
          <a:xfrm rot="0">
            <a:off x="12773999" y="3251856"/>
            <a:ext cx="4711369" cy="1795683"/>
          </a:xfrm>
          <a:prstGeom prst="rect">
            <a:avLst/>
          </a:prstGeom>
        </p:spPr>
        <p:txBody>
          <a:bodyPr anchor="t" rtlCol="false" tIns="0" lIns="0" bIns="0" rIns="0">
            <a:spAutoFit/>
          </a:bodyPr>
          <a:lstStyle/>
          <a:p>
            <a:pPr algn="just" marL="0" indent="0" lvl="0">
              <a:lnSpc>
                <a:spcPts val="2875"/>
              </a:lnSpc>
              <a:spcBef>
                <a:spcPct val="0"/>
              </a:spcBef>
            </a:pPr>
            <a:r>
              <a:rPr lang="en-US" sz="2053" spc="10">
                <a:solidFill>
                  <a:srgbClr val="181D2B"/>
                </a:solidFill>
                <a:latin typeface="Open Sauce"/>
                <a:ea typeface="Open Sauce"/>
                <a:cs typeface="Open Sauce"/>
                <a:sym typeface="Open Sauce"/>
              </a:rPr>
              <a:t>Chỉ số </a:t>
            </a:r>
            <a:r>
              <a:rPr lang="en-US" sz="2053" spc="10" strike="noStrike" u="none">
                <a:solidFill>
                  <a:srgbClr val="181D2B"/>
                </a:solidFill>
                <a:latin typeface="Open Sauce"/>
                <a:ea typeface="Open Sauce"/>
                <a:cs typeface="Open Sauce"/>
                <a:sym typeface="Open Sauce"/>
              </a:rPr>
              <a:t>AQI trung bình toàn vẹn của Hà Nội biến động từ năm 2022 đến năm 2024: đạt 119.15 năm 2022, tăng lên 123.22 năm 2023, sau đó lại giảm xuống 119.89 vào năm 2024.</a:t>
            </a:r>
          </a:p>
        </p:txBody>
      </p:sp>
      <p:sp>
        <p:nvSpPr>
          <p:cNvPr name="TextBox 11" id="11"/>
          <p:cNvSpPr txBox="true"/>
          <p:nvPr/>
        </p:nvSpPr>
        <p:spPr>
          <a:xfrm rot="0">
            <a:off x="12773999" y="5493854"/>
            <a:ext cx="4711369" cy="2157633"/>
          </a:xfrm>
          <a:prstGeom prst="rect">
            <a:avLst/>
          </a:prstGeom>
        </p:spPr>
        <p:txBody>
          <a:bodyPr anchor="t" rtlCol="false" tIns="0" lIns="0" bIns="0" rIns="0">
            <a:spAutoFit/>
          </a:bodyPr>
          <a:lstStyle/>
          <a:p>
            <a:pPr algn="just" marL="0" indent="0" lvl="0">
              <a:lnSpc>
                <a:spcPts val="2875"/>
              </a:lnSpc>
              <a:spcBef>
                <a:spcPct val="0"/>
              </a:spcBef>
            </a:pPr>
            <a:r>
              <a:rPr lang="en-US" sz="2053" spc="10" strike="noStrike" u="none">
                <a:solidFill>
                  <a:srgbClr val="181D2B"/>
                </a:solidFill>
                <a:latin typeface="Open Sauce"/>
                <a:ea typeface="Open Sauce"/>
                <a:cs typeface="Open Sauce"/>
                <a:sym typeface="Open Sauce"/>
              </a:rPr>
              <a:t>Nửa đầu năm 2025 ghi nhận mức AQI tăng mạnh lên 141.86 — mức cao nhất trong toàn bộ giai đoạn nghiên cứu, cao hơn đáng kể so với cùng kỳ 3 năm trước đó: cho thấy xu hướng ô nhiễm đang leo thang đáng lo ngại.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150717" y="2645110"/>
            <a:ext cx="9343257" cy="8578808"/>
          </a:xfrm>
          <a:custGeom>
            <a:avLst/>
            <a:gdLst/>
            <a:ahLst/>
            <a:cxnLst/>
            <a:rect r="r" b="b" t="t" l="l"/>
            <a:pathLst>
              <a:path h="8578808" w="9343257">
                <a:moveTo>
                  <a:pt x="0" y="0"/>
                </a:moveTo>
                <a:lnTo>
                  <a:pt x="9343257" y="0"/>
                </a:lnTo>
                <a:lnTo>
                  <a:pt x="9343257" y="8578808"/>
                </a:lnTo>
                <a:lnTo>
                  <a:pt x="0" y="85788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8081214" y="6934514"/>
            <a:ext cx="9183328" cy="2415592"/>
            <a:chOff x="0" y="0"/>
            <a:chExt cx="2465839" cy="648617"/>
          </a:xfrm>
        </p:grpSpPr>
        <p:sp>
          <p:nvSpPr>
            <p:cNvPr name="Freeform 4" id="4"/>
            <p:cNvSpPr/>
            <p:nvPr/>
          </p:nvSpPr>
          <p:spPr>
            <a:xfrm flipH="false" flipV="false" rot="0">
              <a:off x="0" y="0"/>
              <a:ext cx="2465839" cy="648617"/>
            </a:xfrm>
            <a:custGeom>
              <a:avLst/>
              <a:gdLst/>
              <a:ahLst/>
              <a:cxnLst/>
              <a:rect r="r" b="b" t="t" l="l"/>
              <a:pathLst>
                <a:path h="648617" w="2465839">
                  <a:moveTo>
                    <a:pt x="24448" y="0"/>
                  </a:moveTo>
                  <a:lnTo>
                    <a:pt x="2441391" y="0"/>
                  </a:lnTo>
                  <a:cubicBezTo>
                    <a:pt x="2447875" y="0"/>
                    <a:pt x="2454094" y="2576"/>
                    <a:pt x="2458679" y="7161"/>
                  </a:cubicBezTo>
                  <a:cubicBezTo>
                    <a:pt x="2463264" y="11746"/>
                    <a:pt x="2465839" y="17964"/>
                    <a:pt x="2465839" y="24448"/>
                  </a:cubicBezTo>
                  <a:lnTo>
                    <a:pt x="2465839" y="624169"/>
                  </a:lnTo>
                  <a:cubicBezTo>
                    <a:pt x="2465839" y="630653"/>
                    <a:pt x="2463264" y="636871"/>
                    <a:pt x="2458679" y="641456"/>
                  </a:cubicBezTo>
                  <a:cubicBezTo>
                    <a:pt x="2454094" y="646041"/>
                    <a:pt x="2447875" y="648617"/>
                    <a:pt x="2441391" y="648617"/>
                  </a:cubicBezTo>
                  <a:lnTo>
                    <a:pt x="24448" y="648617"/>
                  </a:lnTo>
                  <a:cubicBezTo>
                    <a:pt x="17964" y="648617"/>
                    <a:pt x="11746" y="646041"/>
                    <a:pt x="7161" y="641456"/>
                  </a:cubicBezTo>
                  <a:cubicBezTo>
                    <a:pt x="2576" y="636871"/>
                    <a:pt x="0" y="630653"/>
                    <a:pt x="0" y="624169"/>
                  </a:cubicBezTo>
                  <a:lnTo>
                    <a:pt x="0" y="24448"/>
                  </a:lnTo>
                  <a:cubicBezTo>
                    <a:pt x="0" y="17964"/>
                    <a:pt x="2576" y="11746"/>
                    <a:pt x="7161" y="7161"/>
                  </a:cubicBezTo>
                  <a:cubicBezTo>
                    <a:pt x="11746" y="2576"/>
                    <a:pt x="17964" y="0"/>
                    <a:pt x="24448" y="0"/>
                  </a:cubicBezTo>
                  <a:close/>
                </a:path>
              </a:pathLst>
            </a:custGeom>
            <a:solidFill>
              <a:srgbClr val="FFFFFE"/>
            </a:solidFill>
            <a:ln w="19050" cap="rnd">
              <a:solidFill>
                <a:srgbClr val="181D2B"/>
              </a:solidFill>
              <a:prstDash val="solid"/>
              <a:round/>
            </a:ln>
          </p:spPr>
        </p:sp>
        <p:sp>
          <p:nvSpPr>
            <p:cNvPr name="TextBox 5" id="5"/>
            <p:cNvSpPr txBox="true"/>
            <p:nvPr/>
          </p:nvSpPr>
          <p:spPr>
            <a:xfrm>
              <a:off x="0" y="-38100"/>
              <a:ext cx="2465839" cy="686717"/>
            </a:xfrm>
            <a:prstGeom prst="rect">
              <a:avLst/>
            </a:prstGeom>
          </p:spPr>
          <p:txBody>
            <a:bodyPr anchor="ctr" rtlCol="false" tIns="50704" lIns="50704" bIns="50704" rIns="50704"/>
            <a:lstStyle/>
            <a:p>
              <a:pPr algn="ctr" marL="0" indent="0" lvl="0">
                <a:lnSpc>
                  <a:spcPts val="3135"/>
                </a:lnSpc>
              </a:pPr>
            </a:p>
          </p:txBody>
        </p:sp>
      </p:grpSp>
      <p:sp>
        <p:nvSpPr>
          <p:cNvPr name="Freeform 6" id="6"/>
          <p:cNvSpPr/>
          <p:nvPr/>
        </p:nvSpPr>
        <p:spPr>
          <a:xfrm flipH="false" flipV="false" rot="0">
            <a:off x="1028700" y="2889943"/>
            <a:ext cx="4280478" cy="2546148"/>
          </a:xfrm>
          <a:custGeom>
            <a:avLst/>
            <a:gdLst/>
            <a:ahLst/>
            <a:cxnLst/>
            <a:rect r="r" b="b" t="t" l="l"/>
            <a:pathLst>
              <a:path h="2546148" w="4280478">
                <a:moveTo>
                  <a:pt x="0" y="0"/>
                </a:moveTo>
                <a:lnTo>
                  <a:pt x="4280478" y="0"/>
                </a:lnTo>
                <a:lnTo>
                  <a:pt x="4280478" y="2546148"/>
                </a:lnTo>
                <a:lnTo>
                  <a:pt x="0" y="2546148"/>
                </a:lnTo>
                <a:lnTo>
                  <a:pt x="0" y="0"/>
                </a:lnTo>
                <a:close/>
              </a:path>
            </a:pathLst>
          </a:custGeom>
          <a:blipFill>
            <a:blip r:embed="rId4"/>
            <a:stretch>
              <a:fillRect l="-18291" t="0" r="-18291" b="-5050"/>
            </a:stretch>
          </a:blipFill>
          <a:ln cap="sq">
            <a:noFill/>
            <a:prstDash val="solid"/>
            <a:miter/>
          </a:ln>
        </p:spPr>
      </p:sp>
      <p:sp>
        <p:nvSpPr>
          <p:cNvPr name="Freeform 7" id="7"/>
          <p:cNvSpPr/>
          <p:nvPr/>
        </p:nvSpPr>
        <p:spPr>
          <a:xfrm flipH="false" flipV="false" rot="0">
            <a:off x="3419127" y="2645110"/>
            <a:ext cx="4239585" cy="2790981"/>
          </a:xfrm>
          <a:custGeom>
            <a:avLst/>
            <a:gdLst/>
            <a:ahLst/>
            <a:cxnLst/>
            <a:rect r="r" b="b" t="t" l="l"/>
            <a:pathLst>
              <a:path h="2790981" w="4239585">
                <a:moveTo>
                  <a:pt x="0" y="0"/>
                </a:moveTo>
                <a:lnTo>
                  <a:pt x="4239585" y="0"/>
                </a:lnTo>
                <a:lnTo>
                  <a:pt x="4239585" y="2790981"/>
                </a:lnTo>
                <a:lnTo>
                  <a:pt x="0" y="2790981"/>
                </a:lnTo>
                <a:lnTo>
                  <a:pt x="0" y="0"/>
                </a:lnTo>
                <a:close/>
              </a:path>
            </a:pathLst>
          </a:custGeom>
          <a:blipFill>
            <a:blip r:embed="rId5"/>
            <a:stretch>
              <a:fillRect l="0" t="-4557" r="-14126" b="-4557"/>
            </a:stretch>
          </a:blipFill>
          <a:ln cap="sq">
            <a:noFill/>
            <a:prstDash val="solid"/>
            <a:miter/>
          </a:ln>
        </p:spPr>
      </p:sp>
      <p:sp>
        <p:nvSpPr>
          <p:cNvPr name="Freeform 8" id="8"/>
          <p:cNvSpPr/>
          <p:nvPr/>
        </p:nvSpPr>
        <p:spPr>
          <a:xfrm flipH="false" flipV="false" rot="0">
            <a:off x="8081214" y="2067906"/>
            <a:ext cx="9178086" cy="4577570"/>
          </a:xfrm>
          <a:custGeom>
            <a:avLst/>
            <a:gdLst/>
            <a:ahLst/>
            <a:cxnLst/>
            <a:rect r="r" b="b" t="t" l="l"/>
            <a:pathLst>
              <a:path h="4577570" w="9178086">
                <a:moveTo>
                  <a:pt x="0" y="0"/>
                </a:moveTo>
                <a:lnTo>
                  <a:pt x="9178086" y="0"/>
                </a:lnTo>
                <a:lnTo>
                  <a:pt x="9178086" y="4577570"/>
                </a:lnTo>
                <a:lnTo>
                  <a:pt x="0" y="4577570"/>
                </a:lnTo>
                <a:lnTo>
                  <a:pt x="0" y="0"/>
                </a:lnTo>
                <a:close/>
              </a:path>
            </a:pathLst>
          </a:custGeom>
          <a:blipFill>
            <a:blip r:embed="rId6"/>
            <a:stretch>
              <a:fillRect l="0" t="0" r="0" b="0"/>
            </a:stretch>
          </a:blipFill>
        </p:spPr>
      </p:sp>
      <p:sp>
        <p:nvSpPr>
          <p:cNvPr name="Freeform 9" id="9"/>
          <p:cNvSpPr/>
          <p:nvPr/>
        </p:nvSpPr>
        <p:spPr>
          <a:xfrm flipH="false" flipV="false" rot="0">
            <a:off x="1028700" y="5705366"/>
            <a:ext cx="6749520" cy="3644741"/>
          </a:xfrm>
          <a:custGeom>
            <a:avLst/>
            <a:gdLst/>
            <a:ahLst/>
            <a:cxnLst/>
            <a:rect r="r" b="b" t="t" l="l"/>
            <a:pathLst>
              <a:path h="3644741" w="6749520">
                <a:moveTo>
                  <a:pt x="0" y="0"/>
                </a:moveTo>
                <a:lnTo>
                  <a:pt x="6749520" y="0"/>
                </a:lnTo>
                <a:lnTo>
                  <a:pt x="6749520" y="3644741"/>
                </a:lnTo>
                <a:lnTo>
                  <a:pt x="0" y="3644741"/>
                </a:lnTo>
                <a:lnTo>
                  <a:pt x="0" y="0"/>
                </a:lnTo>
                <a:close/>
              </a:path>
            </a:pathLst>
          </a:custGeom>
          <a:blipFill>
            <a:blip r:embed="rId7"/>
            <a:stretch>
              <a:fillRect l="0" t="0" r="0" b="0"/>
            </a:stretch>
          </a:blipFill>
        </p:spPr>
      </p:sp>
      <p:sp>
        <p:nvSpPr>
          <p:cNvPr name="TextBox 10" id="10"/>
          <p:cNvSpPr txBox="true"/>
          <p:nvPr/>
        </p:nvSpPr>
        <p:spPr>
          <a:xfrm rot="0">
            <a:off x="8329987" y="8104210"/>
            <a:ext cx="8685783" cy="935355"/>
          </a:xfrm>
          <a:prstGeom prst="rect">
            <a:avLst/>
          </a:prstGeom>
        </p:spPr>
        <p:txBody>
          <a:bodyPr anchor="t" rtlCol="false" tIns="0" lIns="0" bIns="0" rIns="0">
            <a:spAutoFit/>
          </a:bodyPr>
          <a:lstStyle/>
          <a:p>
            <a:pPr algn="just" marL="0" indent="0" lvl="0">
              <a:lnSpc>
                <a:spcPts val="2520"/>
              </a:lnSpc>
              <a:spcBef>
                <a:spcPct val="0"/>
              </a:spcBef>
            </a:pPr>
            <a:r>
              <a:rPr lang="en-US" b="true" sz="1800" i="true" spc="9">
                <a:solidFill>
                  <a:srgbClr val="181D2B"/>
                </a:solidFill>
                <a:latin typeface="Open Sauce Bold Italics"/>
                <a:ea typeface="Open Sauce Bold Italics"/>
                <a:cs typeface="Open Sauce Bold Italics"/>
                <a:sym typeface="Open Sauce Bold Italics"/>
              </a:rPr>
              <a:t>M</a:t>
            </a:r>
            <a:r>
              <a:rPr lang="en-US" b="true" sz="1800" i="true" spc="9" strike="noStrike" u="none">
                <a:solidFill>
                  <a:srgbClr val="181D2B"/>
                </a:solidFill>
                <a:latin typeface="Open Sauce Bold Italics"/>
                <a:ea typeface="Open Sauce Bold Italics"/>
                <a:cs typeface="Open Sauce Bold Italics"/>
                <a:sym typeface="Open Sauce Bold Italics"/>
              </a:rPr>
              <a:t>ùa</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Đô</a:t>
            </a:r>
            <a:r>
              <a:rPr lang="en-US" b="true" sz="1800" i="true" spc="9" strike="noStrike" u="none">
                <a:solidFill>
                  <a:srgbClr val="181D2B"/>
                </a:solidFill>
                <a:latin typeface="Open Sauce Bold Italics"/>
                <a:ea typeface="Open Sauce Bold Italics"/>
                <a:cs typeface="Open Sauce Bold Italics"/>
                <a:sym typeface="Open Sauce Bold Italics"/>
              </a:rPr>
              <a:t>ng </a:t>
            </a:r>
            <a:r>
              <a:rPr lang="en-US" b="true" sz="1800" i="true" spc="9" strike="noStrike" u="none">
                <a:solidFill>
                  <a:srgbClr val="181D2B"/>
                </a:solidFill>
                <a:latin typeface="Open Sauce Bold Italics"/>
                <a:ea typeface="Open Sauce Bold Italics"/>
                <a:cs typeface="Open Sauce Bold Italics"/>
                <a:sym typeface="Open Sauce Bold Italics"/>
              </a:rPr>
              <a:t>là mùa có mức độ ô </a:t>
            </a:r>
            <a:r>
              <a:rPr lang="en-US" b="true" sz="1800" i="true" spc="9" strike="noStrike" u="none">
                <a:solidFill>
                  <a:srgbClr val="181D2B"/>
                </a:solidFill>
                <a:latin typeface="Open Sauce Bold Italics"/>
                <a:ea typeface="Open Sauce Bold Italics"/>
                <a:cs typeface="Open Sauce Bold Italics"/>
                <a:sym typeface="Open Sauce Bold Italics"/>
              </a:rPr>
              <a:t>nh</a:t>
            </a:r>
            <a:r>
              <a:rPr lang="en-US" b="true" sz="1800" i="true" spc="9" strike="noStrike" u="none">
                <a:solidFill>
                  <a:srgbClr val="181D2B"/>
                </a:solidFill>
                <a:latin typeface="Open Sauce Bold Italics"/>
                <a:ea typeface="Open Sauce Bold Italics"/>
                <a:cs typeface="Open Sauce Bold Italics"/>
                <a:sym typeface="Open Sauce Bold Italics"/>
              </a:rPr>
              <a:t>iễm</a:t>
            </a:r>
            <a:r>
              <a:rPr lang="en-US" b="true" sz="1800" i="true" spc="9" strike="noStrike" u="none">
                <a:solidFill>
                  <a:srgbClr val="181D2B"/>
                </a:solidFill>
                <a:latin typeface="Open Sauce Bold Italics"/>
                <a:ea typeface="Open Sauce Bold Italics"/>
                <a:cs typeface="Open Sauce Bold Italics"/>
                <a:sym typeface="Open Sauce Bold Italics"/>
              </a:rPr>
              <a:t> không khí c</a:t>
            </a:r>
            <a:r>
              <a:rPr lang="en-US" b="true" sz="1800" i="true" spc="9" strike="noStrike" u="none">
                <a:solidFill>
                  <a:srgbClr val="181D2B"/>
                </a:solidFill>
                <a:latin typeface="Open Sauce Bold Italics"/>
                <a:ea typeface="Open Sauce Bold Italics"/>
                <a:cs typeface="Open Sauce Bold Italics"/>
                <a:sym typeface="Open Sauce Bold Italics"/>
              </a:rPr>
              <a:t>ao</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nhất và</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ng</a:t>
            </a:r>
            <a:r>
              <a:rPr lang="en-US" b="true" sz="1800" i="true" spc="9" strike="noStrike" u="none">
                <a:solidFill>
                  <a:srgbClr val="181D2B"/>
                </a:solidFill>
                <a:latin typeface="Open Sauce Bold Italics"/>
                <a:ea typeface="Open Sauce Bold Italics"/>
                <a:cs typeface="Open Sauce Bold Italics"/>
                <a:sym typeface="Open Sauce Bold Italics"/>
              </a:rPr>
              <a:t>hi</a:t>
            </a:r>
            <a:r>
              <a:rPr lang="en-US" b="true" sz="1800" i="true" spc="9" strike="noStrike" u="none">
                <a:solidFill>
                  <a:srgbClr val="181D2B"/>
                </a:solidFill>
                <a:latin typeface="Open Sauce Bold Italics"/>
                <a:ea typeface="Open Sauce Bold Italics"/>
                <a:cs typeface="Open Sauce Bold Italics"/>
                <a:sym typeface="Open Sauce Bold Italics"/>
              </a:rPr>
              <a:t>êm</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t</a:t>
            </a:r>
            <a:r>
              <a:rPr lang="en-US" b="true" sz="1800" i="true" spc="9" strike="noStrike" u="none">
                <a:solidFill>
                  <a:srgbClr val="181D2B"/>
                </a:solidFill>
                <a:latin typeface="Open Sauce Bold Italics"/>
                <a:ea typeface="Open Sauce Bold Italics"/>
                <a:cs typeface="Open Sauce Bold Italics"/>
                <a:sym typeface="Open Sauce Bold Italics"/>
              </a:rPr>
              <a:t>r</a:t>
            </a:r>
            <a:r>
              <a:rPr lang="en-US" b="true" sz="1800" i="true" spc="9" strike="noStrike" u="none">
                <a:solidFill>
                  <a:srgbClr val="181D2B"/>
                </a:solidFill>
                <a:latin typeface="Open Sauce Bold Italics"/>
                <a:ea typeface="Open Sauce Bold Italics"/>
                <a:cs typeface="Open Sauce Bold Italics"/>
                <a:sym typeface="Open Sauce Bold Italics"/>
              </a:rPr>
              <a:t>ọng</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nhất t</a:t>
            </a:r>
            <a:r>
              <a:rPr lang="en-US" b="true" sz="1800" i="true" spc="9" strike="noStrike" u="none">
                <a:solidFill>
                  <a:srgbClr val="181D2B"/>
                </a:solidFill>
                <a:latin typeface="Open Sauce Bold Italics"/>
                <a:ea typeface="Open Sauce Bold Italics"/>
                <a:cs typeface="Open Sauce Bold Italics"/>
                <a:sym typeface="Open Sauce Bold Italics"/>
              </a:rPr>
              <a:t>r</a:t>
            </a:r>
            <a:r>
              <a:rPr lang="en-US" b="true" sz="1800" i="true" spc="9" strike="noStrike" u="none">
                <a:solidFill>
                  <a:srgbClr val="181D2B"/>
                </a:solidFill>
                <a:latin typeface="Open Sauce Bold Italics"/>
                <a:ea typeface="Open Sauce Bold Italics"/>
                <a:cs typeface="Open Sauce Bold Italics"/>
                <a:sym typeface="Open Sauce Bold Italics"/>
              </a:rPr>
              <a:t>ong năm </a:t>
            </a:r>
            <a:r>
              <a:rPr lang="en-US" b="true" sz="1800" i="true" spc="9" strike="noStrike" u="none">
                <a:solidFill>
                  <a:srgbClr val="181D2B"/>
                </a:solidFill>
                <a:latin typeface="Open Sauce Bold Italics"/>
                <a:ea typeface="Open Sauce Bold Italics"/>
                <a:cs typeface="Open Sauce Bold Italics"/>
                <a:sym typeface="Open Sauce Bold Italics"/>
              </a:rPr>
              <a:t>t</a:t>
            </a:r>
            <a:r>
              <a:rPr lang="en-US" b="true" sz="1800" i="true" spc="9" strike="noStrike" u="none">
                <a:solidFill>
                  <a:srgbClr val="181D2B"/>
                </a:solidFill>
                <a:latin typeface="Open Sauce Bold Italics"/>
                <a:ea typeface="Open Sauce Bold Italics"/>
                <a:cs typeface="Open Sauce Bold Italics"/>
                <a:sym typeface="Open Sauce Bold Italics"/>
              </a:rPr>
              <a:t>ại Hà Nội</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Nguyên</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nhân</a:t>
            </a:r>
            <a:r>
              <a:rPr lang="en-US" b="true" sz="1800" i="true" spc="9" strike="noStrike" u="none">
                <a:solidFill>
                  <a:srgbClr val="181D2B"/>
                </a:solidFill>
                <a:latin typeface="Open Sauce Bold Italics"/>
                <a:ea typeface="Open Sauce Bold Italics"/>
                <a:cs typeface="Open Sauce Bold Italics"/>
                <a:sym typeface="Open Sauce Bold Italics"/>
              </a:rPr>
              <a:t> c</a:t>
            </a:r>
            <a:r>
              <a:rPr lang="en-US" b="true" sz="1800" i="true" spc="9" strike="noStrike" u="none">
                <a:solidFill>
                  <a:srgbClr val="181D2B"/>
                </a:solidFill>
                <a:latin typeface="Open Sauce Bold Italics"/>
                <a:ea typeface="Open Sauce Bold Italics"/>
                <a:cs typeface="Open Sauce Bold Italics"/>
                <a:sym typeface="Open Sauce Bold Italics"/>
              </a:rPr>
              <a:t>ốt lõi</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do hiện</a:t>
            </a:r>
            <a:r>
              <a:rPr lang="en-US" b="true" sz="1800" i="true" spc="9" strike="noStrike" u="none">
                <a:solidFill>
                  <a:srgbClr val="181D2B"/>
                </a:solidFill>
                <a:latin typeface="Open Sauce Bold Italics"/>
                <a:ea typeface="Open Sauce Bold Italics"/>
                <a:cs typeface="Open Sauce Bold Italics"/>
                <a:sym typeface="Open Sauce Bold Italics"/>
              </a:rPr>
              <a:t> t</a:t>
            </a:r>
            <a:r>
              <a:rPr lang="en-US" b="true" sz="1800" i="true" spc="9" strike="noStrike" u="none">
                <a:solidFill>
                  <a:srgbClr val="181D2B"/>
                </a:solidFill>
                <a:latin typeface="Open Sauce Bold Italics"/>
                <a:ea typeface="Open Sauce Bold Italics"/>
                <a:cs typeface="Open Sauce Bold Italics"/>
                <a:sym typeface="Open Sauce Bold Italics"/>
              </a:rPr>
              <a:t>ượng ng</a:t>
            </a:r>
            <a:r>
              <a:rPr lang="en-US" b="true" sz="1800" i="true" spc="9" strike="noStrike" u="none">
                <a:solidFill>
                  <a:srgbClr val="181D2B"/>
                </a:solidFill>
                <a:latin typeface="Open Sauce Bold Italics"/>
                <a:ea typeface="Open Sauce Bold Italics"/>
                <a:cs typeface="Open Sauce Bold Italics"/>
                <a:sym typeface="Open Sauce Bold Italics"/>
              </a:rPr>
              <a:t>h</a:t>
            </a:r>
            <a:r>
              <a:rPr lang="en-US" b="true" sz="1800" i="true" spc="9" strike="noStrike" u="none">
                <a:solidFill>
                  <a:srgbClr val="181D2B"/>
                </a:solidFill>
                <a:latin typeface="Open Sauce Bold Italics"/>
                <a:ea typeface="Open Sauce Bold Italics"/>
                <a:cs typeface="Open Sauce Bold Italics"/>
                <a:sym typeface="Open Sauce Bold Italics"/>
              </a:rPr>
              <a:t>ịch</a:t>
            </a:r>
            <a:r>
              <a:rPr lang="en-US" b="true" sz="1800" i="true" spc="9" strike="noStrike" u="none">
                <a:solidFill>
                  <a:srgbClr val="181D2B"/>
                </a:solidFill>
                <a:latin typeface="Open Sauce Bold Italics"/>
                <a:ea typeface="Open Sauce Bold Italics"/>
                <a:cs typeface="Open Sauce Bold Italics"/>
                <a:sym typeface="Open Sauce Bold Italics"/>
              </a:rPr>
              <a:t> nh</a:t>
            </a:r>
            <a:r>
              <a:rPr lang="en-US" b="true" sz="1800" i="true" spc="9" strike="noStrike" u="none">
                <a:solidFill>
                  <a:srgbClr val="181D2B"/>
                </a:solidFill>
                <a:latin typeface="Open Sauce Bold Italics"/>
                <a:ea typeface="Open Sauce Bold Italics"/>
                <a:cs typeface="Open Sauce Bold Italics"/>
                <a:sym typeface="Open Sauce Bold Italics"/>
              </a:rPr>
              <a:t>iệ</a:t>
            </a:r>
            <a:r>
              <a:rPr lang="en-US" b="true" sz="1800" i="true" spc="9" strike="noStrike" u="none">
                <a:solidFill>
                  <a:srgbClr val="181D2B"/>
                </a:solidFill>
                <a:latin typeface="Open Sauce Bold Italics"/>
                <a:ea typeface="Open Sauce Bold Italics"/>
                <a:cs typeface="Open Sauce Bold Italics"/>
                <a:sym typeface="Open Sauce Bold Italics"/>
              </a:rPr>
              <a:t>t</a:t>
            </a:r>
            <a:r>
              <a:rPr lang="en-US" b="true" sz="1800" i="true" spc="9" strike="noStrike" u="none">
                <a:solidFill>
                  <a:srgbClr val="181D2B"/>
                </a:solidFill>
                <a:latin typeface="Open Sauce Bold Italics"/>
                <a:ea typeface="Open Sauce Bold Italics"/>
                <a:cs typeface="Open Sauce Bold Italics"/>
                <a:sym typeface="Open Sauce Bold Italics"/>
              </a:rPr>
              <a:t>, lượng</a:t>
            </a:r>
            <a:r>
              <a:rPr lang="en-US" b="true" sz="1800" i="true" spc="9" strike="noStrike" u="none">
                <a:solidFill>
                  <a:srgbClr val="181D2B"/>
                </a:solidFill>
                <a:latin typeface="Open Sauce Bold Italics"/>
                <a:ea typeface="Open Sauce Bold Italics"/>
                <a:cs typeface="Open Sauce Bold Italics"/>
                <a:sym typeface="Open Sauce Bold Italics"/>
              </a:rPr>
              <a:t> mưa </a:t>
            </a:r>
            <a:r>
              <a:rPr lang="en-US" b="true" sz="1800" i="true" spc="9" strike="noStrike" u="none">
                <a:solidFill>
                  <a:srgbClr val="181D2B"/>
                </a:solidFill>
                <a:latin typeface="Open Sauce Bold Italics"/>
                <a:ea typeface="Open Sauce Bold Italics"/>
                <a:cs typeface="Open Sauce Bold Italics"/>
                <a:sym typeface="Open Sauce Bold Italics"/>
              </a:rPr>
              <a:t>t</a:t>
            </a:r>
            <a:r>
              <a:rPr lang="en-US" b="true" sz="1800" i="true" spc="9" strike="noStrike" u="none">
                <a:solidFill>
                  <a:srgbClr val="181D2B"/>
                </a:solidFill>
                <a:latin typeface="Open Sauce Bold Italics"/>
                <a:ea typeface="Open Sauce Bold Italics"/>
                <a:cs typeface="Open Sauce Bold Italics"/>
                <a:sym typeface="Open Sauce Bold Italics"/>
              </a:rPr>
              <a:t>h</a:t>
            </a:r>
            <a:r>
              <a:rPr lang="en-US" b="true" sz="1800" i="true" spc="9" strike="noStrike" u="none">
                <a:solidFill>
                  <a:srgbClr val="181D2B"/>
                </a:solidFill>
                <a:latin typeface="Open Sauce Bold Italics"/>
                <a:ea typeface="Open Sauce Bold Italics"/>
                <a:cs typeface="Open Sauce Bold Italics"/>
                <a:sym typeface="Open Sauce Bold Italics"/>
              </a:rPr>
              <a:t>ấp</a:t>
            </a:r>
            <a:r>
              <a:rPr lang="en-US" b="true" sz="1800" i="true" spc="9" strike="noStrike" u="none">
                <a:solidFill>
                  <a:srgbClr val="181D2B"/>
                </a:solidFill>
                <a:latin typeface="Open Sauce Bold Italics"/>
                <a:ea typeface="Open Sauce Bold Italics"/>
                <a:cs typeface="Open Sauce Bold Italics"/>
                <a:sym typeface="Open Sauce Bold Italics"/>
              </a:rPr>
              <a:t> và </a:t>
            </a:r>
            <a:r>
              <a:rPr lang="en-US" b="true" sz="1800" i="true" spc="9" strike="noStrike" u="none">
                <a:solidFill>
                  <a:srgbClr val="181D2B"/>
                </a:solidFill>
                <a:latin typeface="Open Sauce Bold Italics"/>
                <a:ea typeface="Open Sauce Bold Italics"/>
                <a:cs typeface="Open Sauce Bold Italics"/>
                <a:sym typeface="Open Sauce Bold Italics"/>
              </a:rPr>
              <a:t>lặng </a:t>
            </a:r>
            <a:r>
              <a:rPr lang="en-US" b="true" sz="1800" i="true" spc="9" strike="noStrike" u="none">
                <a:solidFill>
                  <a:srgbClr val="181D2B"/>
                </a:solidFill>
                <a:latin typeface="Open Sauce Bold Italics"/>
                <a:ea typeface="Open Sauce Bold Italics"/>
                <a:cs typeface="Open Sauce Bold Italics"/>
                <a:sym typeface="Open Sauce Bold Italics"/>
              </a:rPr>
              <a:t>gió </a:t>
            </a:r>
            <a:r>
              <a:rPr lang="en-US" b="true" sz="1800" i="true" spc="9" strike="noStrike" u="none">
                <a:solidFill>
                  <a:srgbClr val="181D2B"/>
                </a:solidFill>
                <a:latin typeface="Open Sauce Bold Italics"/>
                <a:ea typeface="Open Sauce Bold Italics"/>
                <a:cs typeface="Open Sauce Bold Italics"/>
                <a:sym typeface="Open Sauce Bold Italics"/>
              </a:rPr>
              <a:t>khiến bụi </a:t>
            </a:r>
            <a:r>
              <a:rPr lang="en-US" b="true" sz="1800" i="true" spc="9" strike="noStrike" u="none">
                <a:solidFill>
                  <a:srgbClr val="181D2B"/>
                </a:solidFill>
                <a:latin typeface="Open Sauce Bold Italics"/>
                <a:ea typeface="Open Sauce Bold Italics"/>
                <a:cs typeface="Open Sauce Bold Italics"/>
                <a:sym typeface="Open Sauce Bold Italics"/>
              </a:rPr>
              <a:t>m</a:t>
            </a:r>
            <a:r>
              <a:rPr lang="en-US" b="true" sz="1800" i="true" spc="9" strike="noStrike" u="none">
                <a:solidFill>
                  <a:srgbClr val="181D2B"/>
                </a:solidFill>
                <a:latin typeface="Open Sauce Bold Italics"/>
                <a:ea typeface="Open Sauce Bold Italics"/>
                <a:cs typeface="Open Sauce Bold Italics"/>
                <a:sym typeface="Open Sauce Bold Italics"/>
              </a:rPr>
              <a:t>ị</a:t>
            </a:r>
            <a:r>
              <a:rPr lang="en-US" b="true" sz="1800" i="true" spc="9" strike="noStrike" u="none">
                <a:solidFill>
                  <a:srgbClr val="181D2B"/>
                </a:solidFill>
                <a:latin typeface="Open Sauce Bold Italics"/>
                <a:ea typeface="Open Sauce Bold Italics"/>
                <a:cs typeface="Open Sauce Bold Italics"/>
                <a:sym typeface="Open Sauce Bold Italics"/>
              </a:rPr>
              <a:t>n</a:t>
            </a:r>
            <a:r>
              <a:rPr lang="en-US" b="true" sz="1800" i="true" spc="9" strike="noStrike" u="none">
                <a:solidFill>
                  <a:srgbClr val="181D2B"/>
                </a:solidFill>
                <a:latin typeface="Open Sauce Bold Italics"/>
                <a:ea typeface="Open Sauce Bold Italics"/>
                <a:cs typeface="Open Sauce Bold Italics"/>
                <a:sym typeface="Open Sauce Bold Italics"/>
              </a:rPr>
              <a:t> bị nén</a:t>
            </a:r>
            <a:r>
              <a:rPr lang="en-US" b="true" sz="1800" i="true" spc="9" strike="noStrike" u="none">
                <a:solidFill>
                  <a:srgbClr val="181D2B"/>
                </a:solidFill>
                <a:latin typeface="Open Sauce Bold Italics"/>
                <a:ea typeface="Open Sauce Bold Italics"/>
                <a:cs typeface="Open Sauce Bold Italics"/>
                <a:sym typeface="Open Sauce Bold Italics"/>
              </a:rPr>
              <a:t> gi</a:t>
            </a:r>
            <a:r>
              <a:rPr lang="en-US" b="true" sz="1800" i="true" spc="9" strike="noStrike" u="none">
                <a:solidFill>
                  <a:srgbClr val="181D2B"/>
                </a:solidFill>
                <a:latin typeface="Open Sauce Bold Italics"/>
                <a:ea typeface="Open Sauce Bold Italics"/>
                <a:cs typeface="Open Sauce Bold Italics"/>
                <a:sym typeface="Open Sauce Bold Italics"/>
              </a:rPr>
              <a:t>ữ sát</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bề</a:t>
            </a:r>
            <a:r>
              <a:rPr lang="en-US" b="true" sz="1800" i="true" spc="9" strike="noStrike" u="none">
                <a:solidFill>
                  <a:srgbClr val="181D2B"/>
                </a:solidFill>
                <a:latin typeface="Open Sauce Bold Italics"/>
                <a:ea typeface="Open Sauce Bold Italics"/>
                <a:cs typeface="Open Sauce Bold Italics"/>
                <a:sym typeface="Open Sauce Bold Italics"/>
              </a:rPr>
              <a:t> </a:t>
            </a:r>
            <a:r>
              <a:rPr lang="en-US" b="true" sz="1800" i="true" spc="9" strike="noStrike" u="none">
                <a:solidFill>
                  <a:srgbClr val="181D2B"/>
                </a:solidFill>
                <a:latin typeface="Open Sauce Bold Italics"/>
                <a:ea typeface="Open Sauce Bold Italics"/>
                <a:cs typeface="Open Sauce Bold Italics"/>
                <a:sym typeface="Open Sauce Bold Italics"/>
              </a:rPr>
              <a:t>mặ</a:t>
            </a:r>
            <a:r>
              <a:rPr lang="en-US" b="true" sz="1800" i="true" spc="9" strike="noStrike" u="none">
                <a:solidFill>
                  <a:srgbClr val="181D2B"/>
                </a:solidFill>
                <a:latin typeface="Open Sauce Bold Italics"/>
                <a:ea typeface="Open Sauce Bold Italics"/>
                <a:cs typeface="Open Sauce Bold Italics"/>
                <a:sym typeface="Open Sauce Bold Italics"/>
              </a:rPr>
              <a:t>t </a:t>
            </a:r>
            <a:r>
              <a:rPr lang="en-US" b="true" sz="1800" i="true" spc="9" strike="noStrike" u="none">
                <a:solidFill>
                  <a:srgbClr val="181D2B"/>
                </a:solidFill>
                <a:latin typeface="Open Sauce Bold Italics"/>
                <a:ea typeface="Open Sauce Bold Italics"/>
                <a:cs typeface="Open Sauce Bold Italics"/>
                <a:sym typeface="Open Sauce Bold Italics"/>
              </a:rPr>
              <a:t>đ</a:t>
            </a:r>
            <a:r>
              <a:rPr lang="en-US" b="true" sz="1800" i="true" spc="9" strike="noStrike" u="none">
                <a:solidFill>
                  <a:srgbClr val="181D2B"/>
                </a:solidFill>
                <a:latin typeface="Open Sauce Bold Italics"/>
                <a:ea typeface="Open Sauce Bold Italics"/>
                <a:cs typeface="Open Sauce Bold Italics"/>
                <a:sym typeface="Open Sauce Bold Italics"/>
              </a:rPr>
              <a:t>ô </a:t>
            </a:r>
            <a:r>
              <a:rPr lang="en-US" b="true" sz="1800" i="true" spc="9" strike="noStrike" u="none">
                <a:solidFill>
                  <a:srgbClr val="181D2B"/>
                </a:solidFill>
                <a:latin typeface="Open Sauce Bold Italics"/>
                <a:ea typeface="Open Sauce Bold Italics"/>
                <a:cs typeface="Open Sauce Bold Italics"/>
                <a:sym typeface="Open Sauce Bold Italics"/>
              </a:rPr>
              <a:t>t</a:t>
            </a:r>
            <a:r>
              <a:rPr lang="en-US" b="true" sz="1800" i="true" spc="9" strike="noStrike" u="none">
                <a:solidFill>
                  <a:srgbClr val="181D2B"/>
                </a:solidFill>
                <a:latin typeface="Open Sauce Bold Italics"/>
                <a:ea typeface="Open Sauce Bold Italics"/>
                <a:cs typeface="Open Sauce Bold Italics"/>
                <a:sym typeface="Open Sauce Bold Italics"/>
              </a:rPr>
              <a:t>h</a:t>
            </a:r>
            <a:r>
              <a:rPr lang="en-US" b="true" sz="1800" i="true" spc="9" strike="noStrike" u="none">
                <a:solidFill>
                  <a:srgbClr val="181D2B"/>
                </a:solidFill>
                <a:latin typeface="Open Sauce Bold Italics"/>
                <a:ea typeface="Open Sauce Bold Italics"/>
                <a:cs typeface="Open Sauce Bold Italics"/>
                <a:sym typeface="Open Sauce Bold Italics"/>
              </a:rPr>
              <a:t>ị</a:t>
            </a:r>
          </a:p>
        </p:txBody>
      </p:sp>
      <p:sp>
        <p:nvSpPr>
          <p:cNvPr name="TextBox 11" id="11"/>
          <p:cNvSpPr txBox="true"/>
          <p:nvPr/>
        </p:nvSpPr>
        <p:spPr>
          <a:xfrm rot="0">
            <a:off x="1099745" y="661000"/>
            <a:ext cx="16150842" cy="1209675"/>
          </a:xfrm>
          <a:prstGeom prst="rect">
            <a:avLst/>
          </a:prstGeom>
        </p:spPr>
        <p:txBody>
          <a:bodyPr anchor="t" rtlCol="false" tIns="0" lIns="0" bIns="0" rIns="0">
            <a:spAutoFit/>
          </a:bodyPr>
          <a:lstStyle/>
          <a:p>
            <a:pPr algn="l" marL="0" indent="0" lvl="0">
              <a:lnSpc>
                <a:spcPts val="8400"/>
              </a:lnSpc>
              <a:spcBef>
                <a:spcPct val="0"/>
              </a:spcBef>
            </a:pPr>
            <a:r>
              <a:rPr lang="en-US" b="true" sz="6000">
                <a:solidFill>
                  <a:srgbClr val="2B598F"/>
                </a:solidFill>
                <a:latin typeface="Agrandir Bold"/>
                <a:ea typeface="Agrandir Bold"/>
                <a:cs typeface="Agrandir Bold"/>
                <a:sym typeface="Agrandir Bold"/>
              </a:rPr>
              <a:t>Mùa nào có mức ô nhiễm cao nhất?</a:t>
            </a:r>
          </a:p>
        </p:txBody>
      </p:sp>
      <p:sp>
        <p:nvSpPr>
          <p:cNvPr name="TextBox 12" id="12"/>
          <p:cNvSpPr txBox="true"/>
          <p:nvPr/>
        </p:nvSpPr>
        <p:spPr>
          <a:xfrm rot="0">
            <a:off x="8327365" y="7198171"/>
            <a:ext cx="8685783" cy="621030"/>
          </a:xfrm>
          <a:prstGeom prst="rect">
            <a:avLst/>
          </a:prstGeom>
        </p:spPr>
        <p:txBody>
          <a:bodyPr anchor="t" rtlCol="false" tIns="0" lIns="0" bIns="0" rIns="0">
            <a:spAutoFit/>
          </a:bodyPr>
          <a:lstStyle/>
          <a:p>
            <a:pPr algn="just" marL="0" indent="0" lvl="0">
              <a:lnSpc>
                <a:spcPts val="2520"/>
              </a:lnSpc>
              <a:spcBef>
                <a:spcPct val="0"/>
              </a:spcBef>
            </a:pPr>
            <a:r>
              <a:rPr lang="en-US" sz="1800" spc="9">
                <a:solidFill>
                  <a:srgbClr val="181D2B"/>
                </a:solidFill>
                <a:latin typeface="Open Sauce"/>
                <a:ea typeface="Open Sauce"/>
                <a:cs typeface="Open Sauce"/>
                <a:sym typeface="Open Sauce"/>
              </a:rPr>
              <a:t>Tro</a:t>
            </a:r>
            <a:r>
              <a:rPr lang="en-US" sz="1800" spc="9" strike="noStrike" u="none">
                <a:solidFill>
                  <a:srgbClr val="181D2B"/>
                </a:solidFill>
                <a:latin typeface="Open Sauce"/>
                <a:ea typeface="Open Sauce"/>
                <a:cs typeface="Open Sauce"/>
                <a:sym typeface="Open Sauce"/>
              </a:rPr>
              <a:t>ng c</a:t>
            </a:r>
            <a:r>
              <a:rPr lang="en-US" sz="1800" spc="9" strike="noStrike" u="none">
                <a:solidFill>
                  <a:srgbClr val="181D2B"/>
                </a:solidFill>
                <a:latin typeface="Open Sauce"/>
                <a:ea typeface="Open Sauce"/>
                <a:cs typeface="Open Sauce"/>
                <a:sym typeface="Open Sauce"/>
              </a:rPr>
              <a:t>ả</a:t>
            </a:r>
            <a:r>
              <a:rPr lang="en-US" sz="1800" spc="9" strike="noStrike" u="none">
                <a:solidFill>
                  <a:srgbClr val="181D2B"/>
                </a:solidFill>
                <a:latin typeface="Open Sauce"/>
                <a:ea typeface="Open Sauce"/>
                <a:cs typeface="Open Sauce"/>
                <a:sym typeface="Open Sauce"/>
              </a:rPr>
              <a:t> </a:t>
            </a:r>
            <a:r>
              <a:rPr lang="en-US" sz="1800" spc="9" strike="noStrike" u="none">
                <a:solidFill>
                  <a:srgbClr val="181D2B"/>
                </a:solidFill>
                <a:latin typeface="Open Sauce"/>
                <a:ea typeface="Open Sauce"/>
                <a:cs typeface="Open Sauce"/>
                <a:sym typeface="Open Sauce"/>
              </a:rPr>
              <a:t>4 nă</a:t>
            </a:r>
            <a:r>
              <a:rPr lang="en-US" sz="1800" spc="9" strike="noStrike" u="none">
                <a:solidFill>
                  <a:srgbClr val="181D2B"/>
                </a:solidFill>
                <a:latin typeface="Open Sauce"/>
                <a:ea typeface="Open Sauce"/>
                <a:cs typeface="Open Sauce"/>
                <a:sym typeface="Open Sauce"/>
              </a:rPr>
              <a:t>m </a:t>
            </a:r>
            <a:r>
              <a:rPr lang="en-US" sz="1800" spc="9" strike="noStrike" u="none">
                <a:solidFill>
                  <a:srgbClr val="181D2B"/>
                </a:solidFill>
                <a:latin typeface="Open Sauce"/>
                <a:ea typeface="Open Sauce"/>
                <a:cs typeface="Open Sauce"/>
                <a:sym typeface="Open Sauce"/>
              </a:rPr>
              <a:t>thì</a:t>
            </a:r>
            <a:r>
              <a:rPr lang="en-US" sz="1800" spc="9" strike="noStrike" u="none">
                <a:solidFill>
                  <a:srgbClr val="181D2B"/>
                </a:solidFill>
                <a:latin typeface="Open Sauce"/>
                <a:ea typeface="Open Sauce"/>
                <a:cs typeface="Open Sauce"/>
                <a:sym typeface="Open Sauce"/>
              </a:rPr>
              <a:t> </a:t>
            </a:r>
            <a:r>
              <a:rPr lang="en-US" sz="1800" spc="9" strike="noStrike" u="none">
                <a:solidFill>
                  <a:srgbClr val="181D2B"/>
                </a:solidFill>
                <a:latin typeface="Open Sauce"/>
                <a:ea typeface="Open Sauce"/>
                <a:cs typeface="Open Sauce"/>
                <a:sym typeface="Open Sauce"/>
              </a:rPr>
              <a:t>giai</a:t>
            </a:r>
            <a:r>
              <a:rPr lang="en-US" sz="1800" spc="9" strike="noStrike" u="none">
                <a:solidFill>
                  <a:srgbClr val="181D2B"/>
                </a:solidFill>
                <a:latin typeface="Open Sauce"/>
                <a:ea typeface="Open Sauce"/>
                <a:cs typeface="Open Sauce"/>
                <a:sym typeface="Open Sauce"/>
              </a:rPr>
              <a:t> </a:t>
            </a:r>
            <a:r>
              <a:rPr lang="en-US" sz="1800" spc="9" strike="noStrike" u="none">
                <a:solidFill>
                  <a:srgbClr val="181D2B"/>
                </a:solidFill>
                <a:latin typeface="Open Sauce"/>
                <a:ea typeface="Open Sauce"/>
                <a:cs typeface="Open Sauce"/>
                <a:sym typeface="Open Sauce"/>
              </a:rPr>
              <a:t>đoạ</a:t>
            </a:r>
            <a:r>
              <a:rPr lang="en-US" sz="1800" spc="9" strike="noStrike" u="none">
                <a:solidFill>
                  <a:srgbClr val="181D2B"/>
                </a:solidFill>
                <a:latin typeface="Open Sauce"/>
                <a:ea typeface="Open Sauce"/>
                <a:cs typeface="Open Sauce"/>
                <a:sym typeface="Open Sauce"/>
              </a:rPr>
              <a:t>n từ tháng 11 cho t</a:t>
            </a:r>
            <a:r>
              <a:rPr lang="en-US" sz="1800" spc="9" strike="noStrike" u="none">
                <a:solidFill>
                  <a:srgbClr val="181D2B"/>
                </a:solidFill>
                <a:latin typeface="Open Sauce"/>
                <a:ea typeface="Open Sauce"/>
                <a:cs typeface="Open Sauce"/>
                <a:sym typeface="Open Sauce"/>
              </a:rPr>
              <a:t>ớ</a:t>
            </a:r>
            <a:r>
              <a:rPr lang="en-US" sz="1800" spc="9" strike="noStrike" u="none">
                <a:solidFill>
                  <a:srgbClr val="181D2B"/>
                </a:solidFill>
                <a:latin typeface="Open Sauce"/>
                <a:ea typeface="Open Sauce"/>
                <a:cs typeface="Open Sauce"/>
                <a:sym typeface="Open Sauce"/>
              </a:rPr>
              <a:t>i t</a:t>
            </a:r>
            <a:r>
              <a:rPr lang="en-US" sz="1800" spc="9" strike="noStrike" u="none">
                <a:solidFill>
                  <a:srgbClr val="181D2B"/>
                </a:solidFill>
                <a:latin typeface="Open Sauce"/>
                <a:ea typeface="Open Sauce"/>
                <a:cs typeface="Open Sauce"/>
                <a:sym typeface="Open Sauce"/>
              </a:rPr>
              <a:t>há</a:t>
            </a:r>
            <a:r>
              <a:rPr lang="en-US" sz="1800" spc="9" strike="noStrike" u="none">
                <a:solidFill>
                  <a:srgbClr val="181D2B"/>
                </a:solidFill>
                <a:latin typeface="Open Sauce"/>
                <a:ea typeface="Open Sauce"/>
                <a:cs typeface="Open Sauce"/>
                <a:sym typeface="Open Sauce"/>
              </a:rPr>
              <a:t>ng 4 năm </a:t>
            </a:r>
            <a:r>
              <a:rPr lang="en-US" sz="1800" spc="9" strike="noStrike" u="none">
                <a:solidFill>
                  <a:srgbClr val="181D2B"/>
                </a:solidFill>
                <a:latin typeface="Open Sauce"/>
                <a:ea typeface="Open Sauce"/>
                <a:cs typeface="Open Sauce"/>
                <a:sym typeface="Open Sauce"/>
              </a:rPr>
              <a:t>sa</a:t>
            </a:r>
            <a:r>
              <a:rPr lang="en-US" sz="1800" spc="9" strike="noStrike" u="none">
                <a:solidFill>
                  <a:srgbClr val="181D2B"/>
                </a:solidFill>
                <a:latin typeface="Open Sauce"/>
                <a:ea typeface="Open Sauce"/>
                <a:cs typeface="Open Sauce"/>
                <a:sym typeface="Open Sauce"/>
              </a:rPr>
              <a:t>u có mức </a:t>
            </a:r>
            <a:r>
              <a:rPr lang="en-US" sz="1800" spc="9" strike="noStrike" u="none">
                <a:solidFill>
                  <a:srgbClr val="181D2B"/>
                </a:solidFill>
                <a:latin typeface="Open Sauce"/>
                <a:ea typeface="Open Sauce"/>
                <a:cs typeface="Open Sauce"/>
                <a:sym typeface="Open Sauce"/>
              </a:rPr>
              <a:t>AQI</a:t>
            </a:r>
            <a:r>
              <a:rPr lang="en-US" sz="1800" spc="9" strike="noStrike" u="none">
                <a:solidFill>
                  <a:srgbClr val="181D2B"/>
                </a:solidFill>
                <a:latin typeface="Open Sauce"/>
                <a:ea typeface="Open Sauce"/>
                <a:cs typeface="Open Sauce"/>
                <a:sym typeface="Open Sauce"/>
              </a:rPr>
              <a:t> cao </a:t>
            </a:r>
            <a:r>
              <a:rPr lang="en-US" sz="1800" spc="9" strike="noStrike" u="none">
                <a:solidFill>
                  <a:srgbClr val="181D2B"/>
                </a:solidFill>
                <a:latin typeface="Open Sauce"/>
                <a:ea typeface="Open Sauce"/>
                <a:cs typeface="Open Sauce"/>
                <a:sym typeface="Open Sauce"/>
              </a:rPr>
              <a:t>v</a:t>
            </a:r>
            <a:r>
              <a:rPr lang="en-US" sz="1800" spc="9" strike="noStrike" u="none">
                <a:solidFill>
                  <a:srgbClr val="181D2B"/>
                </a:solidFill>
                <a:latin typeface="Open Sauce"/>
                <a:ea typeface="Open Sauce"/>
                <a:cs typeface="Open Sauce"/>
                <a:sym typeface="Open Sauce"/>
              </a:rPr>
              <a:t>ượt trội, nằm trong thời kỳ mùa Đông và mùa Xuân ở Hà Nội.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510279" y="1883065"/>
            <a:ext cx="6095650" cy="6095650"/>
          </a:xfrm>
          <a:custGeom>
            <a:avLst/>
            <a:gdLst/>
            <a:ahLst/>
            <a:cxnLst/>
            <a:rect r="r" b="b" t="t" l="l"/>
            <a:pathLst>
              <a:path h="6095650" w="6095650">
                <a:moveTo>
                  <a:pt x="0" y="0"/>
                </a:moveTo>
                <a:lnTo>
                  <a:pt x="6095650" y="0"/>
                </a:lnTo>
                <a:lnTo>
                  <a:pt x="6095650" y="6095649"/>
                </a:lnTo>
                <a:lnTo>
                  <a:pt x="0" y="6095649"/>
                </a:lnTo>
                <a:lnTo>
                  <a:pt x="0" y="0"/>
                </a:lnTo>
                <a:close/>
              </a:path>
            </a:pathLst>
          </a:custGeom>
          <a:blipFill>
            <a:blip r:embed="rId2">
              <a:extLst>
                <a:ext uri="{96DAC541-7B7A-43D3-8B79-37D633B846F1}">
                  <asvg:svgBlip xmlns:asvg="http://schemas.microsoft.com/office/drawing/2016/SVG/main" r:embed="rId3"/>
                </a:ext>
              </a:extLst>
            </a:blip>
            <a:stretch>
              <a:fillRect l="-31923" t="-30783" r="-30783" b="-31923"/>
            </a:stretch>
          </a:blipFill>
          <a:ln cap="rnd">
            <a:noFill/>
            <a:prstDash val="solid"/>
            <a:round/>
          </a:ln>
        </p:spPr>
      </p:sp>
      <p:sp>
        <p:nvSpPr>
          <p:cNvPr name="TextBox 3" id="3"/>
          <p:cNvSpPr txBox="true"/>
          <p:nvPr/>
        </p:nvSpPr>
        <p:spPr>
          <a:xfrm rot="0">
            <a:off x="1028700" y="733425"/>
            <a:ext cx="16125080" cy="2276475"/>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2B598F"/>
                </a:solidFill>
                <a:latin typeface="Agrandir Bold"/>
                <a:ea typeface="Agrandir Bold"/>
                <a:cs typeface="Agrandir Bold"/>
                <a:sym typeface="Agrandir Bold"/>
              </a:rPr>
              <a:t>Trong ngày, chỉ số bụi mịn đạt đỉnh vào những khung giờ nào?</a:t>
            </a:r>
          </a:p>
        </p:txBody>
      </p:sp>
      <p:grpSp>
        <p:nvGrpSpPr>
          <p:cNvPr name="Group 4" id="4"/>
          <p:cNvGrpSpPr/>
          <p:nvPr/>
        </p:nvGrpSpPr>
        <p:grpSpPr>
          <a:xfrm rot="0">
            <a:off x="1240450" y="7880938"/>
            <a:ext cx="7850790" cy="2167257"/>
            <a:chOff x="0" y="0"/>
            <a:chExt cx="2071623" cy="571884"/>
          </a:xfrm>
        </p:grpSpPr>
        <p:sp>
          <p:nvSpPr>
            <p:cNvPr name="Freeform 5" id="5"/>
            <p:cNvSpPr/>
            <p:nvPr/>
          </p:nvSpPr>
          <p:spPr>
            <a:xfrm flipH="false" flipV="false" rot="0">
              <a:off x="0" y="0"/>
              <a:ext cx="2071623" cy="571884"/>
            </a:xfrm>
            <a:custGeom>
              <a:avLst/>
              <a:gdLst/>
              <a:ahLst/>
              <a:cxnLst/>
              <a:rect r="r" b="b" t="t" l="l"/>
              <a:pathLst>
                <a:path h="571884" w="2071623">
                  <a:moveTo>
                    <a:pt x="28598" y="0"/>
                  </a:moveTo>
                  <a:lnTo>
                    <a:pt x="2043025" y="0"/>
                  </a:lnTo>
                  <a:cubicBezTo>
                    <a:pt x="2050610" y="0"/>
                    <a:pt x="2057884" y="3013"/>
                    <a:pt x="2063247" y="8376"/>
                  </a:cubicBezTo>
                  <a:cubicBezTo>
                    <a:pt x="2068610" y="13739"/>
                    <a:pt x="2071623" y="21013"/>
                    <a:pt x="2071623" y="28598"/>
                  </a:cubicBezTo>
                  <a:lnTo>
                    <a:pt x="2071623" y="543286"/>
                  </a:lnTo>
                  <a:cubicBezTo>
                    <a:pt x="2071623" y="550871"/>
                    <a:pt x="2068610" y="558145"/>
                    <a:pt x="2063247" y="563508"/>
                  </a:cubicBezTo>
                  <a:cubicBezTo>
                    <a:pt x="2057884" y="568871"/>
                    <a:pt x="2050610" y="571884"/>
                    <a:pt x="2043025" y="571884"/>
                  </a:cubicBezTo>
                  <a:lnTo>
                    <a:pt x="28598" y="571884"/>
                  </a:lnTo>
                  <a:cubicBezTo>
                    <a:pt x="21013" y="571884"/>
                    <a:pt x="13739" y="568871"/>
                    <a:pt x="8376" y="563508"/>
                  </a:cubicBezTo>
                  <a:cubicBezTo>
                    <a:pt x="3013" y="558145"/>
                    <a:pt x="0" y="550871"/>
                    <a:pt x="0" y="543286"/>
                  </a:cubicBezTo>
                  <a:lnTo>
                    <a:pt x="0" y="28598"/>
                  </a:lnTo>
                  <a:cubicBezTo>
                    <a:pt x="0" y="21013"/>
                    <a:pt x="3013" y="13739"/>
                    <a:pt x="8376" y="8376"/>
                  </a:cubicBezTo>
                  <a:cubicBezTo>
                    <a:pt x="13739" y="3013"/>
                    <a:pt x="21013" y="0"/>
                    <a:pt x="28598" y="0"/>
                  </a:cubicBezTo>
                  <a:close/>
                </a:path>
              </a:pathLst>
            </a:custGeom>
            <a:solidFill>
              <a:srgbClr val="FFFFFE"/>
            </a:solidFill>
            <a:ln w="19050" cap="rnd">
              <a:solidFill>
                <a:srgbClr val="181D2B"/>
              </a:solidFill>
              <a:prstDash val="solid"/>
              <a:round/>
            </a:ln>
          </p:spPr>
        </p:sp>
        <p:sp>
          <p:nvSpPr>
            <p:cNvPr name="TextBox 6" id="6"/>
            <p:cNvSpPr txBox="true"/>
            <p:nvPr/>
          </p:nvSpPr>
          <p:spPr>
            <a:xfrm>
              <a:off x="0" y="-38100"/>
              <a:ext cx="2071623" cy="609984"/>
            </a:xfrm>
            <a:prstGeom prst="rect">
              <a:avLst/>
            </a:prstGeom>
          </p:spPr>
          <p:txBody>
            <a:bodyPr anchor="ctr" rtlCol="false" tIns="50704" lIns="50704" bIns="50704" rIns="50704"/>
            <a:lstStyle/>
            <a:p>
              <a:pPr algn="ctr" marL="0" indent="0" lvl="0">
                <a:lnSpc>
                  <a:spcPts val="3135"/>
                </a:lnSpc>
              </a:pPr>
            </a:p>
          </p:txBody>
        </p:sp>
      </p:grpSp>
      <p:grpSp>
        <p:nvGrpSpPr>
          <p:cNvPr name="Group 7" id="7"/>
          <p:cNvGrpSpPr/>
          <p:nvPr/>
        </p:nvGrpSpPr>
        <p:grpSpPr>
          <a:xfrm rot="0">
            <a:off x="9169705" y="7880938"/>
            <a:ext cx="8089595" cy="2167257"/>
            <a:chOff x="0" y="0"/>
            <a:chExt cx="2134638" cy="571884"/>
          </a:xfrm>
        </p:grpSpPr>
        <p:sp>
          <p:nvSpPr>
            <p:cNvPr name="Freeform 8" id="8"/>
            <p:cNvSpPr/>
            <p:nvPr/>
          </p:nvSpPr>
          <p:spPr>
            <a:xfrm flipH="false" flipV="false" rot="0">
              <a:off x="0" y="0"/>
              <a:ext cx="2134638" cy="571884"/>
            </a:xfrm>
            <a:custGeom>
              <a:avLst/>
              <a:gdLst/>
              <a:ahLst/>
              <a:cxnLst/>
              <a:rect r="r" b="b" t="t" l="l"/>
              <a:pathLst>
                <a:path h="571884" w="2134638">
                  <a:moveTo>
                    <a:pt x="27754" y="0"/>
                  </a:moveTo>
                  <a:lnTo>
                    <a:pt x="2106884" y="0"/>
                  </a:lnTo>
                  <a:cubicBezTo>
                    <a:pt x="2122212" y="0"/>
                    <a:pt x="2134638" y="12426"/>
                    <a:pt x="2134638" y="27754"/>
                  </a:cubicBezTo>
                  <a:lnTo>
                    <a:pt x="2134638" y="544130"/>
                  </a:lnTo>
                  <a:cubicBezTo>
                    <a:pt x="2134638" y="559458"/>
                    <a:pt x="2122212" y="571884"/>
                    <a:pt x="2106884" y="571884"/>
                  </a:cubicBezTo>
                  <a:lnTo>
                    <a:pt x="27754" y="571884"/>
                  </a:lnTo>
                  <a:cubicBezTo>
                    <a:pt x="12426" y="571884"/>
                    <a:pt x="0" y="559458"/>
                    <a:pt x="0" y="544130"/>
                  </a:cubicBezTo>
                  <a:lnTo>
                    <a:pt x="0" y="27754"/>
                  </a:lnTo>
                  <a:cubicBezTo>
                    <a:pt x="0" y="12426"/>
                    <a:pt x="12426" y="0"/>
                    <a:pt x="27754" y="0"/>
                  </a:cubicBezTo>
                  <a:close/>
                </a:path>
              </a:pathLst>
            </a:custGeom>
            <a:solidFill>
              <a:srgbClr val="FFFFFE"/>
            </a:solidFill>
            <a:ln w="19050" cap="rnd">
              <a:solidFill>
                <a:srgbClr val="181D2B"/>
              </a:solidFill>
              <a:prstDash val="solid"/>
              <a:round/>
            </a:ln>
          </p:spPr>
        </p:sp>
        <p:sp>
          <p:nvSpPr>
            <p:cNvPr name="TextBox 9" id="9"/>
            <p:cNvSpPr txBox="true"/>
            <p:nvPr/>
          </p:nvSpPr>
          <p:spPr>
            <a:xfrm>
              <a:off x="0" y="-38100"/>
              <a:ext cx="2134638" cy="609984"/>
            </a:xfrm>
            <a:prstGeom prst="rect">
              <a:avLst/>
            </a:prstGeom>
          </p:spPr>
          <p:txBody>
            <a:bodyPr anchor="ctr" rtlCol="false" tIns="50704" lIns="50704" bIns="50704" rIns="50704"/>
            <a:lstStyle/>
            <a:p>
              <a:pPr algn="ctr" marL="0" indent="0" lvl="0">
                <a:lnSpc>
                  <a:spcPts val="3135"/>
                </a:lnSpc>
              </a:pPr>
            </a:p>
          </p:txBody>
        </p:sp>
      </p:grpSp>
      <p:sp>
        <p:nvSpPr>
          <p:cNvPr name="Freeform 10" id="10"/>
          <p:cNvSpPr/>
          <p:nvPr/>
        </p:nvSpPr>
        <p:spPr>
          <a:xfrm flipH="false" flipV="false" rot="0">
            <a:off x="3996893" y="3009900"/>
            <a:ext cx="11176449" cy="4708079"/>
          </a:xfrm>
          <a:custGeom>
            <a:avLst/>
            <a:gdLst/>
            <a:ahLst/>
            <a:cxnLst/>
            <a:rect r="r" b="b" t="t" l="l"/>
            <a:pathLst>
              <a:path h="4708079" w="11176449">
                <a:moveTo>
                  <a:pt x="0" y="0"/>
                </a:moveTo>
                <a:lnTo>
                  <a:pt x="11176450" y="0"/>
                </a:lnTo>
                <a:lnTo>
                  <a:pt x="11176450" y="4708079"/>
                </a:lnTo>
                <a:lnTo>
                  <a:pt x="0" y="4708079"/>
                </a:lnTo>
                <a:lnTo>
                  <a:pt x="0" y="0"/>
                </a:lnTo>
                <a:close/>
              </a:path>
            </a:pathLst>
          </a:custGeom>
          <a:blipFill>
            <a:blip r:embed="rId4"/>
            <a:stretch>
              <a:fillRect l="0" t="0" r="0" b="0"/>
            </a:stretch>
          </a:blipFill>
        </p:spPr>
      </p:sp>
      <p:sp>
        <p:nvSpPr>
          <p:cNvPr name="TextBox 11" id="11"/>
          <p:cNvSpPr txBox="true"/>
          <p:nvPr/>
        </p:nvSpPr>
        <p:spPr>
          <a:xfrm rot="0">
            <a:off x="1507822" y="8284448"/>
            <a:ext cx="7337558" cy="953233"/>
          </a:xfrm>
          <a:prstGeom prst="rect">
            <a:avLst/>
          </a:prstGeom>
        </p:spPr>
        <p:txBody>
          <a:bodyPr anchor="t" rtlCol="false" tIns="0" lIns="0" bIns="0" rIns="0">
            <a:spAutoFit/>
          </a:bodyPr>
          <a:lstStyle/>
          <a:p>
            <a:pPr algn="just" marL="0" indent="0" lvl="0">
              <a:lnSpc>
                <a:spcPts val="2584"/>
              </a:lnSpc>
              <a:spcBef>
                <a:spcPct val="0"/>
              </a:spcBef>
            </a:pPr>
            <a:r>
              <a:rPr lang="en-US" b="true" sz="1846" i="true" spc="9" strike="noStrike" u="none">
                <a:solidFill>
                  <a:srgbClr val="181D2B"/>
                </a:solidFill>
                <a:latin typeface="Open Sauce Bold Italics"/>
                <a:ea typeface="Open Sauce Bold Italics"/>
                <a:cs typeface="Open Sauce Bold Italics"/>
                <a:sym typeface="Open Sauce Bold Italics"/>
              </a:rPr>
              <a:t>Đỉnh buổi sáng (7:00–9:00): PM2.5 và PM10 tăng cao do mật độ giao thông giờ cao điểm, hoạt động đốt nhiên liệu và hiện tượng nghịch nhiệt sáng sớm giữ bụi mịn gần mặt đất.</a:t>
            </a:r>
          </a:p>
        </p:txBody>
      </p:sp>
      <p:sp>
        <p:nvSpPr>
          <p:cNvPr name="TextBox 12" id="12"/>
          <p:cNvSpPr txBox="true"/>
          <p:nvPr/>
        </p:nvSpPr>
        <p:spPr>
          <a:xfrm rot="0">
            <a:off x="9400338" y="8284448"/>
            <a:ext cx="7594734" cy="953233"/>
          </a:xfrm>
          <a:prstGeom prst="rect">
            <a:avLst/>
          </a:prstGeom>
        </p:spPr>
        <p:txBody>
          <a:bodyPr anchor="t" rtlCol="false" tIns="0" lIns="0" bIns="0" rIns="0">
            <a:spAutoFit/>
          </a:bodyPr>
          <a:lstStyle/>
          <a:p>
            <a:pPr algn="just" marL="0" indent="0" lvl="0">
              <a:lnSpc>
                <a:spcPts val="2584"/>
              </a:lnSpc>
              <a:spcBef>
                <a:spcPct val="0"/>
              </a:spcBef>
            </a:pPr>
            <a:r>
              <a:rPr lang="en-US" b="true" sz="1846" i="true" spc="9" strike="noStrike" u="none">
                <a:solidFill>
                  <a:srgbClr val="181D2B"/>
                </a:solidFill>
                <a:latin typeface="Open Sauce Bold Italics"/>
                <a:ea typeface="Open Sauce Bold Italics"/>
                <a:cs typeface="Open Sauce Bold Italics"/>
                <a:sym typeface="Open Sauce Bold Italics"/>
              </a:rPr>
              <a:t>Đỉnh buổi tối (20:00–22:00): Nồng độ bụi mịn tăng trở lại do giao thông chiều tối, nghịch nhiệt, và gió lặng làm hạn chế khả năng phát tán chất ô nhiễm trong không khí.</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176941" y="-3741"/>
            <a:ext cx="4107319" cy="4114800"/>
          </a:xfrm>
          <a:custGeom>
            <a:avLst/>
            <a:gdLst/>
            <a:ahLst/>
            <a:cxnLst/>
            <a:rect r="r" b="b" t="t" l="l"/>
            <a:pathLst>
              <a:path h="4114800" w="4107319">
                <a:moveTo>
                  <a:pt x="0" y="0"/>
                </a:moveTo>
                <a:lnTo>
                  <a:pt x="4107318" y="0"/>
                </a:lnTo>
                <a:lnTo>
                  <a:pt x="41073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741" y="6175941"/>
            <a:ext cx="4107319" cy="4114800"/>
          </a:xfrm>
          <a:custGeom>
            <a:avLst/>
            <a:gdLst/>
            <a:ahLst/>
            <a:cxnLst/>
            <a:rect r="r" b="b" t="t" l="l"/>
            <a:pathLst>
              <a:path h="4114800" w="4107319">
                <a:moveTo>
                  <a:pt x="0" y="0"/>
                </a:moveTo>
                <a:lnTo>
                  <a:pt x="4107318" y="0"/>
                </a:lnTo>
                <a:lnTo>
                  <a:pt x="41073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515240" y="2515641"/>
            <a:ext cx="8037974" cy="5951654"/>
            <a:chOff x="0" y="0"/>
            <a:chExt cx="2121017" cy="1570490"/>
          </a:xfrm>
        </p:grpSpPr>
        <p:sp>
          <p:nvSpPr>
            <p:cNvPr name="Freeform 5" id="5"/>
            <p:cNvSpPr/>
            <p:nvPr/>
          </p:nvSpPr>
          <p:spPr>
            <a:xfrm flipH="false" flipV="false" rot="0">
              <a:off x="0" y="0"/>
              <a:ext cx="2121017" cy="1570490"/>
            </a:xfrm>
            <a:custGeom>
              <a:avLst/>
              <a:gdLst/>
              <a:ahLst/>
              <a:cxnLst/>
              <a:rect r="r" b="b" t="t" l="l"/>
              <a:pathLst>
                <a:path h="1570490" w="2121017">
                  <a:moveTo>
                    <a:pt x="27932" y="0"/>
                  </a:moveTo>
                  <a:lnTo>
                    <a:pt x="2093085" y="0"/>
                  </a:lnTo>
                  <a:cubicBezTo>
                    <a:pt x="2108511" y="0"/>
                    <a:pt x="2121017" y="12506"/>
                    <a:pt x="2121017" y="27932"/>
                  </a:cubicBezTo>
                  <a:lnTo>
                    <a:pt x="2121017" y="1542558"/>
                  </a:lnTo>
                  <a:cubicBezTo>
                    <a:pt x="2121017" y="1557984"/>
                    <a:pt x="2108511" y="1570490"/>
                    <a:pt x="2093085" y="1570490"/>
                  </a:cubicBezTo>
                  <a:lnTo>
                    <a:pt x="27932" y="1570490"/>
                  </a:lnTo>
                  <a:cubicBezTo>
                    <a:pt x="12506" y="1570490"/>
                    <a:pt x="0" y="1557984"/>
                    <a:pt x="0" y="1542558"/>
                  </a:cubicBezTo>
                  <a:lnTo>
                    <a:pt x="0" y="27932"/>
                  </a:lnTo>
                  <a:cubicBezTo>
                    <a:pt x="0" y="12506"/>
                    <a:pt x="12506" y="0"/>
                    <a:pt x="27932" y="0"/>
                  </a:cubicBezTo>
                  <a:close/>
                </a:path>
              </a:pathLst>
            </a:custGeom>
            <a:solidFill>
              <a:srgbClr val="FFFFFE"/>
            </a:solidFill>
            <a:ln w="19050" cap="rnd">
              <a:solidFill>
                <a:srgbClr val="181D2B"/>
              </a:solidFill>
              <a:prstDash val="solid"/>
              <a:round/>
            </a:ln>
          </p:spPr>
        </p:sp>
        <p:sp>
          <p:nvSpPr>
            <p:cNvPr name="TextBox 6" id="6"/>
            <p:cNvSpPr txBox="true"/>
            <p:nvPr/>
          </p:nvSpPr>
          <p:spPr>
            <a:xfrm>
              <a:off x="0" y="-38100"/>
              <a:ext cx="2121017" cy="1608590"/>
            </a:xfrm>
            <a:prstGeom prst="rect">
              <a:avLst/>
            </a:prstGeom>
          </p:spPr>
          <p:txBody>
            <a:bodyPr anchor="ctr" rtlCol="false" tIns="50704" lIns="50704" bIns="50704" rIns="50704"/>
            <a:lstStyle/>
            <a:p>
              <a:pPr algn="ctr" marL="0" indent="0" lvl="0">
                <a:lnSpc>
                  <a:spcPts val="3135"/>
                </a:lnSpc>
              </a:pPr>
            </a:p>
          </p:txBody>
        </p:sp>
      </p:grpSp>
      <p:sp>
        <p:nvSpPr>
          <p:cNvPr name="Freeform 7" id="7"/>
          <p:cNvSpPr/>
          <p:nvPr/>
        </p:nvSpPr>
        <p:spPr>
          <a:xfrm flipH="false" flipV="false" rot="0">
            <a:off x="1028700" y="2515641"/>
            <a:ext cx="8056384" cy="5951654"/>
          </a:xfrm>
          <a:custGeom>
            <a:avLst/>
            <a:gdLst/>
            <a:ahLst/>
            <a:cxnLst/>
            <a:rect r="r" b="b" t="t" l="l"/>
            <a:pathLst>
              <a:path h="5951654" w="8056384">
                <a:moveTo>
                  <a:pt x="0" y="0"/>
                </a:moveTo>
                <a:lnTo>
                  <a:pt x="8056384" y="0"/>
                </a:lnTo>
                <a:lnTo>
                  <a:pt x="8056384" y="5951654"/>
                </a:lnTo>
                <a:lnTo>
                  <a:pt x="0" y="5951654"/>
                </a:lnTo>
                <a:lnTo>
                  <a:pt x="0" y="0"/>
                </a:lnTo>
                <a:close/>
              </a:path>
            </a:pathLst>
          </a:custGeom>
          <a:blipFill>
            <a:blip r:embed="rId4"/>
            <a:stretch>
              <a:fillRect l="0" t="0" r="0" b="0"/>
            </a:stretch>
          </a:blipFill>
        </p:spPr>
      </p:sp>
      <p:sp>
        <p:nvSpPr>
          <p:cNvPr name="TextBox 8" id="8"/>
          <p:cNvSpPr txBox="true"/>
          <p:nvPr/>
        </p:nvSpPr>
        <p:spPr>
          <a:xfrm rot="0">
            <a:off x="1028700" y="704850"/>
            <a:ext cx="14152457" cy="1343761"/>
          </a:xfrm>
          <a:prstGeom prst="rect">
            <a:avLst/>
          </a:prstGeom>
        </p:spPr>
        <p:txBody>
          <a:bodyPr anchor="t" rtlCol="false" tIns="0" lIns="0" bIns="0" rIns="0">
            <a:spAutoFit/>
          </a:bodyPr>
          <a:lstStyle/>
          <a:p>
            <a:pPr algn="l" marL="0" indent="0" lvl="0">
              <a:lnSpc>
                <a:spcPts val="9409"/>
              </a:lnSpc>
              <a:spcBef>
                <a:spcPct val="0"/>
              </a:spcBef>
            </a:pPr>
            <a:r>
              <a:rPr lang="en-US" b="true" sz="6721">
                <a:solidFill>
                  <a:srgbClr val="2B598F"/>
                </a:solidFill>
                <a:latin typeface="Agrandir Bold"/>
                <a:ea typeface="Agrandir Bold"/>
                <a:cs typeface="Agrandir Bold"/>
                <a:sym typeface="Agrandir Bold"/>
              </a:rPr>
              <a:t>AQI </a:t>
            </a:r>
            <a:r>
              <a:rPr lang="en-US" b="true" sz="6721" strike="noStrike" u="none">
                <a:solidFill>
                  <a:srgbClr val="2B598F"/>
                </a:solidFill>
                <a:latin typeface="Agrandir Bold"/>
                <a:ea typeface="Agrandir Bold"/>
                <a:cs typeface="Agrandir Bold"/>
                <a:sym typeface="Agrandir Bold"/>
              </a:rPr>
              <a:t>ngày thường và cuối tuần</a:t>
            </a:r>
          </a:p>
        </p:txBody>
      </p:sp>
      <p:sp>
        <p:nvSpPr>
          <p:cNvPr name="TextBox 9" id="9"/>
          <p:cNvSpPr txBox="true"/>
          <p:nvPr/>
        </p:nvSpPr>
        <p:spPr>
          <a:xfrm rot="0">
            <a:off x="10496161" y="4891348"/>
            <a:ext cx="6597812" cy="1071783"/>
          </a:xfrm>
          <a:prstGeom prst="rect">
            <a:avLst/>
          </a:prstGeom>
        </p:spPr>
        <p:txBody>
          <a:bodyPr anchor="t" rtlCol="false" tIns="0" lIns="0" bIns="0" rIns="0">
            <a:spAutoFit/>
          </a:bodyPr>
          <a:lstStyle/>
          <a:p>
            <a:pPr algn="just" marL="0" indent="0" lvl="0">
              <a:lnSpc>
                <a:spcPts val="2875"/>
              </a:lnSpc>
              <a:spcBef>
                <a:spcPct val="0"/>
              </a:spcBef>
            </a:pPr>
            <a:r>
              <a:rPr lang="en-US" sz="2053" spc="10" strike="noStrike" u="none">
                <a:solidFill>
                  <a:srgbClr val="181D2B"/>
                </a:solidFill>
                <a:latin typeface="Open Sauce"/>
                <a:ea typeface="Open Sauce"/>
                <a:cs typeface="Open Sauce"/>
                <a:sym typeface="Open Sauce"/>
              </a:rPr>
              <a:t>Kiểm định T-test độc lập cho kết quả p-value = 0.0019 &lt; 0.05, khẳng định sự khác biệt có ý nghĩa thống kê giữa AQI ngày thường và cuối tuần.</a:t>
            </a:r>
          </a:p>
        </p:txBody>
      </p:sp>
      <p:sp>
        <p:nvSpPr>
          <p:cNvPr name="TextBox 10" id="10"/>
          <p:cNvSpPr txBox="true"/>
          <p:nvPr/>
        </p:nvSpPr>
        <p:spPr>
          <a:xfrm rot="0">
            <a:off x="9853223" y="2833069"/>
            <a:ext cx="7406077" cy="1433733"/>
          </a:xfrm>
          <a:prstGeom prst="rect">
            <a:avLst/>
          </a:prstGeom>
        </p:spPr>
        <p:txBody>
          <a:bodyPr anchor="t" rtlCol="false" tIns="0" lIns="0" bIns="0" rIns="0">
            <a:spAutoFit/>
          </a:bodyPr>
          <a:lstStyle/>
          <a:p>
            <a:pPr algn="l" marL="0" indent="0" lvl="0">
              <a:lnSpc>
                <a:spcPts val="2875"/>
              </a:lnSpc>
              <a:spcBef>
                <a:spcPct val="0"/>
              </a:spcBef>
            </a:pPr>
            <a:r>
              <a:rPr lang="en-US" sz="2053" spc="10" strike="noStrike" u="none">
                <a:solidFill>
                  <a:srgbClr val="181D2B"/>
                </a:solidFill>
                <a:latin typeface="Open Sauce"/>
                <a:ea typeface="Open Sauce"/>
                <a:cs typeface="Open Sauce"/>
                <a:sym typeface="Open Sauce"/>
              </a:rPr>
              <a:t>KẾT QUẢ KIỂM ĐỊNH THỐNG KÊ (T-TEST):</a:t>
            </a:r>
          </a:p>
          <a:p>
            <a:pPr algn="l" marL="0" indent="0" lvl="0">
              <a:lnSpc>
                <a:spcPts val="2875"/>
              </a:lnSpc>
              <a:spcBef>
                <a:spcPct val="0"/>
              </a:spcBef>
            </a:pPr>
            <a:r>
              <a:rPr lang="en-US" sz="2053" spc="10" strike="noStrike" u="none">
                <a:solidFill>
                  <a:srgbClr val="181D2B"/>
                </a:solidFill>
                <a:latin typeface="Open Sauce"/>
                <a:ea typeface="Open Sauce"/>
                <a:cs typeface="Open Sauce"/>
                <a:sym typeface="Open Sauce"/>
              </a:rPr>
              <a:t>- T-statistic: 3.1039</a:t>
            </a:r>
          </a:p>
          <a:p>
            <a:pPr algn="l" marL="0" indent="0" lvl="0">
              <a:lnSpc>
                <a:spcPts val="2875"/>
              </a:lnSpc>
              <a:spcBef>
                <a:spcPct val="0"/>
              </a:spcBef>
            </a:pPr>
            <a:r>
              <a:rPr lang="en-US" sz="2053" spc="10" strike="noStrike" u="none">
                <a:solidFill>
                  <a:srgbClr val="181D2B"/>
                </a:solidFill>
                <a:latin typeface="Open Sauce"/>
                <a:ea typeface="Open Sauce"/>
                <a:cs typeface="Open Sauce"/>
                <a:sym typeface="Open Sauce"/>
              </a:rPr>
              <a:t>- P-value: 0.0019</a:t>
            </a:r>
          </a:p>
          <a:p>
            <a:pPr algn="l" marL="0" indent="0" lvl="0">
              <a:lnSpc>
                <a:spcPts val="2875"/>
              </a:lnSpc>
              <a:spcBef>
                <a:spcPct val="0"/>
              </a:spcBef>
            </a:pPr>
            <a:r>
              <a:rPr lang="en-US" sz="2053" spc="10" strike="noStrike" u="none">
                <a:solidFill>
                  <a:srgbClr val="181D2B"/>
                </a:solidFill>
                <a:latin typeface="Open Sauce"/>
                <a:ea typeface="Open Sauce"/>
                <a:cs typeface="Open Sauce"/>
                <a:sym typeface="Open Sauce"/>
              </a:rPr>
              <a:t>AQI trung bình Ngày thường: 124.47 | Cuối tuần: 122.10</a:t>
            </a:r>
          </a:p>
        </p:txBody>
      </p:sp>
      <p:sp>
        <p:nvSpPr>
          <p:cNvPr name="Freeform 11" id="11"/>
          <p:cNvSpPr/>
          <p:nvPr/>
        </p:nvSpPr>
        <p:spPr>
          <a:xfrm flipH="false" flipV="false" rot="0">
            <a:off x="9829252" y="4929448"/>
            <a:ext cx="428104" cy="428104"/>
          </a:xfrm>
          <a:custGeom>
            <a:avLst/>
            <a:gdLst/>
            <a:ahLst/>
            <a:cxnLst/>
            <a:rect r="r" b="b" t="t" l="l"/>
            <a:pathLst>
              <a:path h="428104" w="428104">
                <a:moveTo>
                  <a:pt x="0" y="0"/>
                </a:moveTo>
                <a:lnTo>
                  <a:pt x="428103" y="0"/>
                </a:lnTo>
                <a:lnTo>
                  <a:pt x="428103" y="428104"/>
                </a:lnTo>
                <a:lnTo>
                  <a:pt x="0" y="4281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0496161" y="6403132"/>
            <a:ext cx="6597812" cy="1071783"/>
          </a:xfrm>
          <a:prstGeom prst="rect">
            <a:avLst/>
          </a:prstGeom>
        </p:spPr>
        <p:txBody>
          <a:bodyPr anchor="t" rtlCol="false" tIns="0" lIns="0" bIns="0" rIns="0">
            <a:spAutoFit/>
          </a:bodyPr>
          <a:lstStyle/>
          <a:p>
            <a:pPr algn="just" marL="0" indent="0" lvl="0">
              <a:lnSpc>
                <a:spcPts val="2875"/>
              </a:lnSpc>
              <a:spcBef>
                <a:spcPct val="0"/>
              </a:spcBef>
            </a:pPr>
            <a:r>
              <a:rPr lang="en-US" sz="2053" spc="10">
                <a:solidFill>
                  <a:srgbClr val="181D2B"/>
                </a:solidFill>
                <a:latin typeface="Open Sauce"/>
                <a:ea typeface="Open Sauce"/>
                <a:cs typeface="Open Sauce"/>
                <a:sym typeface="Open Sauce"/>
              </a:rPr>
              <a:t>Biểu đồ Boxplot cho thấy phân phối hộp và giá trị trung vị của hai nhóm "Ngày thường" và "Cuối tuần" có sự chênh lệch nhẹ.</a:t>
            </a:r>
          </a:p>
        </p:txBody>
      </p:sp>
      <p:sp>
        <p:nvSpPr>
          <p:cNvPr name="Freeform 13" id="13"/>
          <p:cNvSpPr/>
          <p:nvPr/>
        </p:nvSpPr>
        <p:spPr>
          <a:xfrm flipH="false" flipV="false" rot="0">
            <a:off x="9829252" y="6441232"/>
            <a:ext cx="428104" cy="428104"/>
          </a:xfrm>
          <a:custGeom>
            <a:avLst/>
            <a:gdLst/>
            <a:ahLst/>
            <a:cxnLst/>
            <a:rect r="r" b="b" t="t" l="l"/>
            <a:pathLst>
              <a:path h="428104" w="428104">
                <a:moveTo>
                  <a:pt x="0" y="0"/>
                </a:moveTo>
                <a:lnTo>
                  <a:pt x="428103" y="0"/>
                </a:lnTo>
                <a:lnTo>
                  <a:pt x="428103" y="428103"/>
                </a:lnTo>
                <a:lnTo>
                  <a:pt x="0" y="4281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431304"/>
            <a:ext cx="8115300" cy="6826996"/>
          </a:xfrm>
          <a:custGeom>
            <a:avLst/>
            <a:gdLst/>
            <a:ahLst/>
            <a:cxnLst/>
            <a:rect r="r" b="b" t="t" l="l"/>
            <a:pathLst>
              <a:path h="6826996" w="8115300">
                <a:moveTo>
                  <a:pt x="0" y="0"/>
                </a:moveTo>
                <a:lnTo>
                  <a:pt x="8115300" y="0"/>
                </a:lnTo>
                <a:lnTo>
                  <a:pt x="8115300" y="6826996"/>
                </a:lnTo>
                <a:lnTo>
                  <a:pt x="0" y="6826996"/>
                </a:lnTo>
                <a:lnTo>
                  <a:pt x="0" y="0"/>
                </a:lnTo>
                <a:close/>
              </a:path>
            </a:pathLst>
          </a:custGeom>
          <a:blipFill>
            <a:blip r:embed="rId2"/>
            <a:stretch>
              <a:fillRect l="0" t="0" r="0" b="0"/>
            </a:stretch>
          </a:blipFill>
        </p:spPr>
      </p:sp>
      <p:sp>
        <p:nvSpPr>
          <p:cNvPr name="TextBox 3" id="3"/>
          <p:cNvSpPr txBox="true"/>
          <p:nvPr/>
        </p:nvSpPr>
        <p:spPr>
          <a:xfrm rot="0">
            <a:off x="6755944" y="550094"/>
            <a:ext cx="10503356" cy="2489101"/>
          </a:xfrm>
          <a:prstGeom prst="rect">
            <a:avLst/>
          </a:prstGeom>
        </p:spPr>
        <p:txBody>
          <a:bodyPr anchor="t" rtlCol="false" tIns="0" lIns="0" bIns="0" rIns="0">
            <a:spAutoFit/>
          </a:bodyPr>
          <a:lstStyle/>
          <a:p>
            <a:pPr algn="r" marL="0" indent="0" lvl="0">
              <a:lnSpc>
                <a:spcPts val="9280"/>
              </a:lnSpc>
              <a:spcBef>
                <a:spcPct val="0"/>
              </a:spcBef>
            </a:pPr>
            <a:r>
              <a:rPr lang="en-US" b="true" sz="6628">
                <a:solidFill>
                  <a:srgbClr val="2B598F"/>
                </a:solidFill>
                <a:latin typeface="Agrandir Bold"/>
                <a:ea typeface="Agrandir Bold"/>
                <a:cs typeface="Agrandir Bold"/>
                <a:sym typeface="Agrandir Bold"/>
              </a:rPr>
              <a:t>Mối quan hệ giữa AQI và các chỉ số môi trường</a:t>
            </a:r>
          </a:p>
        </p:txBody>
      </p:sp>
      <p:sp>
        <p:nvSpPr>
          <p:cNvPr name="TextBox 4" id="4"/>
          <p:cNvSpPr txBox="true"/>
          <p:nvPr/>
        </p:nvSpPr>
        <p:spPr>
          <a:xfrm rot="0">
            <a:off x="9831970" y="3196609"/>
            <a:ext cx="7427330" cy="3864096"/>
          </a:xfrm>
          <a:prstGeom prst="rect">
            <a:avLst/>
          </a:prstGeom>
        </p:spPr>
        <p:txBody>
          <a:bodyPr anchor="t" rtlCol="false" tIns="0" lIns="0" bIns="0" rIns="0">
            <a:spAutoFit/>
          </a:bodyPr>
          <a:lstStyle/>
          <a:p>
            <a:pPr algn="just" marL="0" indent="0" lvl="0">
              <a:lnSpc>
                <a:spcPts val="2793"/>
              </a:lnSpc>
              <a:spcBef>
                <a:spcPct val="0"/>
              </a:spcBef>
            </a:pPr>
            <a:r>
              <a:rPr lang="en-US" sz="1995" spc="9" strike="noStrike" u="none">
                <a:solidFill>
                  <a:srgbClr val="181D2B"/>
                </a:solidFill>
                <a:latin typeface="Open Sauce"/>
                <a:ea typeface="Open Sauce"/>
                <a:cs typeface="Open Sauce"/>
                <a:sym typeface="Open Sauce"/>
              </a:rPr>
              <a:t>• PM2.5 có hệ số tương quan Pearson r = 0.81 với AQI — tương quan dương rất mạnh.</a:t>
            </a:r>
          </a:p>
          <a:p>
            <a:pPr algn="just" marL="0" indent="0" lvl="0">
              <a:lnSpc>
                <a:spcPts val="2793"/>
              </a:lnSpc>
              <a:spcBef>
                <a:spcPct val="0"/>
              </a:spcBef>
            </a:pPr>
            <a:r>
              <a:rPr lang="en-US" sz="1995" spc="9" strike="noStrike" u="none">
                <a:solidFill>
                  <a:srgbClr val="181D2B"/>
                </a:solidFill>
                <a:latin typeface="Open Sauce"/>
                <a:ea typeface="Open Sauce"/>
                <a:cs typeface="Open Sauce"/>
                <a:sym typeface="Open Sauce"/>
              </a:rPr>
              <a:t>• PM10 có hệ số tương quan r = 0.82 với AQI — chỉ số bụi thô cũng ảnh hưởng lớn.</a:t>
            </a:r>
          </a:p>
          <a:p>
            <a:pPr algn="just" marL="0" indent="0" lvl="0">
              <a:lnSpc>
                <a:spcPts val="2793"/>
              </a:lnSpc>
              <a:spcBef>
                <a:spcPct val="0"/>
              </a:spcBef>
            </a:pPr>
            <a:r>
              <a:rPr lang="en-US" sz="1995" spc="9" strike="noStrike" u="none">
                <a:solidFill>
                  <a:srgbClr val="181D2B"/>
                </a:solidFill>
                <a:latin typeface="Open Sauce"/>
                <a:ea typeface="Open Sauce"/>
                <a:cs typeface="Open Sauce"/>
                <a:sym typeface="Open Sauce"/>
              </a:rPr>
              <a:t>• Tốc độ gió tương quan nghịch với AQI: gió mạnh giúp phân tán ô nhiễm, cải thiện chất lượng không khí.</a:t>
            </a:r>
          </a:p>
          <a:p>
            <a:pPr algn="just" marL="0" indent="0" lvl="0">
              <a:lnSpc>
                <a:spcPts val="2793"/>
              </a:lnSpc>
              <a:spcBef>
                <a:spcPct val="0"/>
              </a:spcBef>
            </a:pPr>
            <a:r>
              <a:rPr lang="en-US" sz="1995" spc="9" strike="noStrike" u="none">
                <a:solidFill>
                  <a:srgbClr val="181D2B"/>
                </a:solidFill>
                <a:latin typeface="Open Sauce"/>
                <a:ea typeface="Open Sauce"/>
                <a:cs typeface="Open Sauce"/>
                <a:sym typeface="Open Sauce"/>
              </a:rPr>
              <a:t>• Nhiệt độ tương quan nghịch nhẹ với AQI; độ ẩm cao và lặng gió làm tăng nồng độ bụi mịn.</a:t>
            </a:r>
          </a:p>
          <a:p>
            <a:pPr algn="just" marL="0" indent="0" lvl="0">
              <a:lnSpc>
                <a:spcPts val="2793"/>
              </a:lnSpc>
              <a:spcBef>
                <a:spcPct val="0"/>
              </a:spcBef>
            </a:pPr>
          </a:p>
          <a:p>
            <a:pPr algn="just" marL="0" indent="0" lvl="0">
              <a:lnSpc>
                <a:spcPts val="2793"/>
              </a:lnSpc>
              <a:spcBef>
                <a:spcPct val="0"/>
              </a:spcBef>
            </a:pPr>
            <a:r>
              <a:rPr lang="en-US" b="true" sz="1995" spc="9" strike="noStrike" u="none">
                <a:solidFill>
                  <a:srgbClr val="181D2B"/>
                </a:solidFill>
                <a:latin typeface="Open Sauce Bold"/>
                <a:ea typeface="Open Sauce Bold"/>
                <a:cs typeface="Open Sauce Bold"/>
                <a:sym typeface="Open Sauce Bold"/>
              </a:rPr>
              <a:t>=&gt; Ma trận nhiệt cho thấy bụi mịn là yếu tố ảnh hưởng trực tiếp và lớn nhất tới chỉ số AQI.</a:t>
            </a:r>
          </a:p>
        </p:txBody>
      </p:sp>
      <p:sp>
        <p:nvSpPr>
          <p:cNvPr name="Freeform 5" id="5"/>
          <p:cNvSpPr/>
          <p:nvPr/>
        </p:nvSpPr>
        <p:spPr>
          <a:xfrm flipH="false" flipV="false" rot="-10800000">
            <a:off x="0" y="0"/>
            <a:ext cx="4107319" cy="4114800"/>
          </a:xfrm>
          <a:custGeom>
            <a:avLst/>
            <a:gdLst/>
            <a:ahLst/>
            <a:cxnLst/>
            <a:rect r="r" b="b" t="t" l="l"/>
            <a:pathLst>
              <a:path h="4114800" w="4107319">
                <a:moveTo>
                  <a:pt x="0" y="0"/>
                </a:moveTo>
                <a:lnTo>
                  <a:pt x="4107319" y="0"/>
                </a:lnTo>
                <a:lnTo>
                  <a:pt x="41073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0" y="3184776"/>
            <a:ext cx="9209671" cy="12147047"/>
          </a:xfrm>
          <a:custGeom>
            <a:avLst/>
            <a:gdLst/>
            <a:ahLst/>
            <a:cxnLst/>
            <a:rect r="r" b="b" t="t" l="l"/>
            <a:pathLst>
              <a:path h="12147047" w="9209671">
                <a:moveTo>
                  <a:pt x="0" y="0"/>
                </a:moveTo>
                <a:lnTo>
                  <a:pt x="9209671" y="0"/>
                </a:lnTo>
                <a:lnTo>
                  <a:pt x="9209671" y="12147048"/>
                </a:lnTo>
                <a:lnTo>
                  <a:pt x="0" y="12147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52278" y="5692243"/>
            <a:ext cx="4305114" cy="4262063"/>
          </a:xfrm>
          <a:custGeom>
            <a:avLst/>
            <a:gdLst/>
            <a:ahLst/>
            <a:cxnLst/>
            <a:rect r="r" b="b" t="t" l="l"/>
            <a:pathLst>
              <a:path h="4262063" w="4305114">
                <a:moveTo>
                  <a:pt x="0" y="0"/>
                </a:moveTo>
                <a:lnTo>
                  <a:pt x="4305114" y="0"/>
                </a:lnTo>
                <a:lnTo>
                  <a:pt x="4305114" y="4262063"/>
                </a:lnTo>
                <a:lnTo>
                  <a:pt x="0" y="4262063"/>
                </a:lnTo>
                <a:lnTo>
                  <a:pt x="0" y="0"/>
                </a:lnTo>
                <a:close/>
              </a:path>
            </a:pathLst>
          </a:custGeom>
          <a:blipFill>
            <a:blip r:embed="rId4"/>
            <a:stretch>
              <a:fillRect l="0" t="0" r="0" b="0"/>
            </a:stretch>
          </a:blipFill>
        </p:spPr>
      </p:sp>
      <p:sp>
        <p:nvSpPr>
          <p:cNvPr name="Freeform 4" id="4"/>
          <p:cNvSpPr/>
          <p:nvPr/>
        </p:nvSpPr>
        <p:spPr>
          <a:xfrm flipH="false" flipV="false" rot="0">
            <a:off x="1028700" y="1176703"/>
            <a:ext cx="11301259" cy="5014934"/>
          </a:xfrm>
          <a:custGeom>
            <a:avLst/>
            <a:gdLst/>
            <a:ahLst/>
            <a:cxnLst/>
            <a:rect r="r" b="b" t="t" l="l"/>
            <a:pathLst>
              <a:path h="5014934" w="11301259">
                <a:moveTo>
                  <a:pt x="0" y="0"/>
                </a:moveTo>
                <a:lnTo>
                  <a:pt x="11301259" y="0"/>
                </a:lnTo>
                <a:lnTo>
                  <a:pt x="11301259" y="5014934"/>
                </a:lnTo>
                <a:lnTo>
                  <a:pt x="0" y="5014934"/>
                </a:lnTo>
                <a:lnTo>
                  <a:pt x="0" y="0"/>
                </a:lnTo>
                <a:close/>
              </a:path>
            </a:pathLst>
          </a:custGeom>
          <a:blipFill>
            <a:blip r:embed="rId5"/>
            <a:stretch>
              <a:fillRect l="0" t="0" r="0" b="0"/>
            </a:stretch>
          </a:blipFill>
        </p:spPr>
      </p:sp>
      <p:sp>
        <p:nvSpPr>
          <p:cNvPr name="TextBox 5" id="5"/>
          <p:cNvSpPr txBox="true"/>
          <p:nvPr/>
        </p:nvSpPr>
        <p:spPr>
          <a:xfrm rot="0">
            <a:off x="9198174" y="881428"/>
            <a:ext cx="8061126" cy="2276475"/>
          </a:xfrm>
          <a:prstGeom prst="rect">
            <a:avLst/>
          </a:prstGeom>
        </p:spPr>
        <p:txBody>
          <a:bodyPr anchor="t" rtlCol="false" tIns="0" lIns="0" bIns="0" rIns="0">
            <a:spAutoFit/>
          </a:bodyPr>
          <a:lstStyle/>
          <a:p>
            <a:pPr algn="r" marL="0" indent="0" lvl="0">
              <a:lnSpc>
                <a:spcPts val="8400"/>
              </a:lnSpc>
              <a:spcBef>
                <a:spcPct val="0"/>
              </a:spcBef>
            </a:pPr>
            <a:r>
              <a:rPr lang="en-US" b="true" sz="6000" strike="noStrike" u="none">
                <a:solidFill>
                  <a:srgbClr val="2B598F"/>
                </a:solidFill>
                <a:latin typeface="Agrandir Bold"/>
                <a:ea typeface="Agrandir Bold"/>
                <a:cs typeface="Agrandir Bold"/>
                <a:sym typeface="Agrandir Bold"/>
              </a:rPr>
              <a:t>Dự báo AQI</a:t>
            </a:r>
          </a:p>
          <a:p>
            <a:pPr algn="r" marL="0" indent="0" lvl="0">
              <a:lnSpc>
                <a:spcPts val="8400"/>
              </a:lnSpc>
              <a:spcBef>
                <a:spcPct val="0"/>
              </a:spcBef>
            </a:pPr>
            <a:r>
              <a:rPr lang="en-US" b="true" sz="6000" strike="noStrike" u="none">
                <a:solidFill>
                  <a:srgbClr val="2B598F"/>
                </a:solidFill>
                <a:latin typeface="Agrandir Bold"/>
                <a:ea typeface="Agrandir Bold"/>
                <a:cs typeface="Agrandir Bold"/>
                <a:sym typeface="Agrandir Bold"/>
              </a:rPr>
              <a:t>của ngày mai</a:t>
            </a:r>
          </a:p>
        </p:txBody>
      </p:sp>
      <p:sp>
        <p:nvSpPr>
          <p:cNvPr name="TextBox 6" id="6"/>
          <p:cNvSpPr txBox="true"/>
          <p:nvPr/>
        </p:nvSpPr>
        <p:spPr>
          <a:xfrm rot="0">
            <a:off x="9813601" y="6401774"/>
            <a:ext cx="7445699" cy="3168650"/>
          </a:xfrm>
          <a:prstGeom prst="rect">
            <a:avLst/>
          </a:prstGeom>
        </p:spPr>
        <p:txBody>
          <a:bodyPr anchor="t" rtlCol="false" tIns="0" lIns="0" bIns="0" rIns="0">
            <a:spAutoFit/>
          </a:bodyPr>
          <a:lstStyle/>
          <a:p>
            <a:pPr algn="just" marL="0" indent="0" lvl="0">
              <a:lnSpc>
                <a:spcPts val="2800"/>
              </a:lnSpc>
              <a:spcBef>
                <a:spcPct val="0"/>
              </a:spcBef>
            </a:pPr>
            <a:r>
              <a:rPr lang="en-US" b="true" sz="2000" i="true" spc="10" strike="noStrike" u="none">
                <a:solidFill>
                  <a:srgbClr val="181D2B"/>
                </a:solidFill>
                <a:latin typeface="Open Sauce Bold Italics"/>
                <a:ea typeface="Open Sauce Bold Italics"/>
                <a:cs typeface="Open Sauce Bold Italics"/>
                <a:sym typeface="Open Sauce Bold Italics"/>
              </a:rPr>
              <a:t>Mô hình SARIMAX được áp dụng để dự báo chỉ số AQI tại Hà Nội. Kết quả dự báo ngày 01/07/2025 cho giá trị </a:t>
            </a:r>
          </a:p>
          <a:p>
            <a:pPr algn="just" marL="0" indent="0" lvl="0">
              <a:lnSpc>
                <a:spcPts val="2800"/>
              </a:lnSpc>
              <a:spcBef>
                <a:spcPct val="0"/>
              </a:spcBef>
            </a:pPr>
            <a:r>
              <a:rPr lang="en-US" b="true" sz="2000" i="true" spc="10" strike="noStrike" u="none">
                <a:solidFill>
                  <a:srgbClr val="181D2B"/>
                </a:solidFill>
                <a:latin typeface="Open Sauce Bold Italics"/>
                <a:ea typeface="Open Sauce Bold Italics"/>
                <a:cs typeface="Open Sauce Bold Italics"/>
                <a:sym typeface="Open Sauce Bold Italics"/>
              </a:rPr>
              <a:t>AQI = 99.37 (xấp xỉ 99.4), thuộc mức Trung bình, có thể ảnh hưởng đến nhóm nhạy cảm.</a:t>
            </a:r>
          </a:p>
          <a:p>
            <a:pPr algn="just" marL="0" indent="0" lvl="0">
              <a:lnSpc>
                <a:spcPts val="2800"/>
              </a:lnSpc>
              <a:spcBef>
                <a:spcPct val="0"/>
              </a:spcBef>
            </a:pPr>
          </a:p>
          <a:p>
            <a:pPr algn="just" marL="0" indent="0" lvl="0">
              <a:lnSpc>
                <a:spcPts val="2800"/>
              </a:lnSpc>
              <a:spcBef>
                <a:spcPct val="0"/>
              </a:spcBef>
            </a:pPr>
            <a:r>
              <a:rPr lang="en-US" sz="2000" spc="10" strike="noStrike" u="none">
                <a:solidFill>
                  <a:srgbClr val="181D2B"/>
                </a:solidFill>
                <a:latin typeface="Open Sauce"/>
                <a:ea typeface="Open Sauce"/>
                <a:cs typeface="Open Sauce"/>
                <a:sym typeface="Open Sauce"/>
              </a:rPr>
              <a:t>So sánh giá trị thực và dự báo trong nửa đầu năm 2025 cho thấy mô hình bám sát xu hướng thực tế với sai số thấp. SARIMAX phù hợp với dữ liệu chuỗi thời gian có tính mùa vụ rõ ràng như AQI tại Hà Nội.</a:t>
            </a:r>
          </a:p>
        </p:txBody>
      </p:sp>
      <p:sp>
        <p:nvSpPr>
          <p:cNvPr name="Freeform 7" id="7"/>
          <p:cNvSpPr/>
          <p:nvPr/>
        </p:nvSpPr>
        <p:spPr>
          <a:xfrm flipH="false" flipV="false" rot="0">
            <a:off x="9209671" y="6449399"/>
            <a:ext cx="428104" cy="428104"/>
          </a:xfrm>
          <a:custGeom>
            <a:avLst/>
            <a:gdLst/>
            <a:ahLst/>
            <a:cxnLst/>
            <a:rect r="r" b="b" t="t" l="l"/>
            <a:pathLst>
              <a:path h="428104" w="428104">
                <a:moveTo>
                  <a:pt x="0" y="0"/>
                </a:moveTo>
                <a:lnTo>
                  <a:pt x="428103" y="0"/>
                </a:lnTo>
                <a:lnTo>
                  <a:pt x="428103" y="428104"/>
                </a:lnTo>
                <a:lnTo>
                  <a:pt x="0" y="4281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3299025" y="2121870"/>
            <a:ext cx="6095650" cy="6095650"/>
          </a:xfrm>
          <a:custGeom>
            <a:avLst/>
            <a:gdLst/>
            <a:ahLst/>
            <a:cxnLst/>
            <a:rect r="r" b="b" t="t" l="l"/>
            <a:pathLst>
              <a:path h="6095650" w="6095650">
                <a:moveTo>
                  <a:pt x="0" y="0"/>
                </a:moveTo>
                <a:lnTo>
                  <a:pt x="6095649" y="0"/>
                </a:lnTo>
                <a:lnTo>
                  <a:pt x="6095649" y="6095650"/>
                </a:lnTo>
                <a:lnTo>
                  <a:pt x="0" y="6095650"/>
                </a:lnTo>
                <a:lnTo>
                  <a:pt x="0" y="0"/>
                </a:lnTo>
                <a:close/>
              </a:path>
            </a:pathLst>
          </a:custGeom>
          <a:blipFill>
            <a:blip r:embed="rId2">
              <a:extLst>
                <a:ext uri="{96DAC541-7B7A-43D3-8B79-37D633B846F1}">
                  <asvg:svgBlip xmlns:asvg="http://schemas.microsoft.com/office/drawing/2016/SVG/main" r:embed="rId3"/>
                </a:ext>
              </a:extLst>
            </a:blip>
            <a:stretch>
              <a:fillRect l="-31923" t="-30783" r="-30783" b="-31923"/>
            </a:stretch>
          </a:blipFill>
          <a:ln cap="rnd">
            <a:noFill/>
            <a:prstDash val="solid"/>
            <a:round/>
          </a:ln>
        </p:spPr>
      </p:sp>
      <p:sp>
        <p:nvSpPr>
          <p:cNvPr name="Freeform 3" id="3"/>
          <p:cNvSpPr/>
          <p:nvPr/>
        </p:nvSpPr>
        <p:spPr>
          <a:xfrm flipH="false" flipV="false" rot="-1431390">
            <a:off x="10839090" y="1677"/>
            <a:ext cx="4919870" cy="2054046"/>
          </a:xfrm>
          <a:custGeom>
            <a:avLst/>
            <a:gdLst/>
            <a:ahLst/>
            <a:cxnLst/>
            <a:rect r="r" b="b" t="t" l="l"/>
            <a:pathLst>
              <a:path h="2054046" w="4919870">
                <a:moveTo>
                  <a:pt x="0" y="0"/>
                </a:moveTo>
                <a:lnTo>
                  <a:pt x="4919869" y="0"/>
                </a:lnTo>
                <a:lnTo>
                  <a:pt x="4919869" y="2054046"/>
                </a:lnTo>
                <a:lnTo>
                  <a:pt x="0" y="2054046"/>
                </a:lnTo>
                <a:lnTo>
                  <a:pt x="0" y="0"/>
                </a:lnTo>
                <a:close/>
              </a:path>
            </a:pathLst>
          </a:custGeom>
          <a:blipFill>
            <a:blip r:embed="rId4"/>
            <a:stretch>
              <a:fillRect l="0" t="0" r="0" b="0"/>
            </a:stretch>
          </a:blipFill>
        </p:spPr>
      </p:sp>
      <p:grpSp>
        <p:nvGrpSpPr>
          <p:cNvPr name="Group 4" id="4"/>
          <p:cNvGrpSpPr/>
          <p:nvPr/>
        </p:nvGrpSpPr>
        <p:grpSpPr>
          <a:xfrm rot="0">
            <a:off x="1028700" y="2590157"/>
            <a:ext cx="6631723" cy="6539236"/>
            <a:chOff x="0" y="0"/>
            <a:chExt cx="1749943" cy="1725538"/>
          </a:xfrm>
        </p:grpSpPr>
        <p:sp>
          <p:nvSpPr>
            <p:cNvPr name="Freeform 5" id="5"/>
            <p:cNvSpPr/>
            <p:nvPr/>
          </p:nvSpPr>
          <p:spPr>
            <a:xfrm flipH="false" flipV="false" rot="0">
              <a:off x="0" y="0"/>
              <a:ext cx="1749943" cy="1725538"/>
            </a:xfrm>
            <a:custGeom>
              <a:avLst/>
              <a:gdLst/>
              <a:ahLst/>
              <a:cxnLst/>
              <a:rect r="r" b="b" t="t" l="l"/>
              <a:pathLst>
                <a:path h="1725538" w="1749943">
                  <a:moveTo>
                    <a:pt x="33855" y="0"/>
                  </a:moveTo>
                  <a:lnTo>
                    <a:pt x="1716088" y="0"/>
                  </a:lnTo>
                  <a:cubicBezTo>
                    <a:pt x="1725067" y="0"/>
                    <a:pt x="1733678" y="3567"/>
                    <a:pt x="1740027" y="9916"/>
                  </a:cubicBezTo>
                  <a:cubicBezTo>
                    <a:pt x="1746376" y="16265"/>
                    <a:pt x="1749943" y="24876"/>
                    <a:pt x="1749943" y="33855"/>
                  </a:cubicBezTo>
                  <a:lnTo>
                    <a:pt x="1749943" y="1691683"/>
                  </a:lnTo>
                  <a:cubicBezTo>
                    <a:pt x="1749943" y="1710380"/>
                    <a:pt x="1734785" y="1725538"/>
                    <a:pt x="1716088" y="1725538"/>
                  </a:cubicBezTo>
                  <a:lnTo>
                    <a:pt x="33855" y="1725538"/>
                  </a:lnTo>
                  <a:cubicBezTo>
                    <a:pt x="15157" y="1725538"/>
                    <a:pt x="0" y="1710380"/>
                    <a:pt x="0" y="1691683"/>
                  </a:cubicBezTo>
                  <a:lnTo>
                    <a:pt x="0" y="33855"/>
                  </a:lnTo>
                  <a:cubicBezTo>
                    <a:pt x="0" y="15157"/>
                    <a:pt x="15157" y="0"/>
                    <a:pt x="33855" y="0"/>
                  </a:cubicBezTo>
                  <a:close/>
                </a:path>
              </a:pathLst>
            </a:custGeom>
            <a:solidFill>
              <a:srgbClr val="FFFFFE"/>
            </a:solidFill>
            <a:ln w="19050" cap="rnd">
              <a:solidFill>
                <a:srgbClr val="181D2B"/>
              </a:solidFill>
              <a:prstDash val="solid"/>
              <a:round/>
            </a:ln>
          </p:spPr>
        </p:sp>
        <p:sp>
          <p:nvSpPr>
            <p:cNvPr name="TextBox 6" id="6"/>
            <p:cNvSpPr txBox="true"/>
            <p:nvPr/>
          </p:nvSpPr>
          <p:spPr>
            <a:xfrm>
              <a:off x="0" y="-38100"/>
              <a:ext cx="1749943" cy="1763638"/>
            </a:xfrm>
            <a:prstGeom prst="rect">
              <a:avLst/>
            </a:prstGeom>
          </p:spPr>
          <p:txBody>
            <a:bodyPr anchor="ctr" rtlCol="false" tIns="50704" lIns="50704" bIns="50704" rIns="50704"/>
            <a:lstStyle/>
            <a:p>
              <a:pPr algn="ctr" marL="0" indent="0" lvl="0">
                <a:lnSpc>
                  <a:spcPts val="3135"/>
                </a:lnSpc>
              </a:pPr>
            </a:p>
          </p:txBody>
        </p:sp>
      </p:grpSp>
      <p:sp>
        <p:nvSpPr>
          <p:cNvPr name="Freeform 7" id="7"/>
          <p:cNvSpPr/>
          <p:nvPr/>
        </p:nvSpPr>
        <p:spPr>
          <a:xfrm flipH="false" flipV="false" rot="0">
            <a:off x="7958559" y="2596651"/>
            <a:ext cx="9631438" cy="5863138"/>
          </a:xfrm>
          <a:custGeom>
            <a:avLst/>
            <a:gdLst/>
            <a:ahLst/>
            <a:cxnLst/>
            <a:rect r="r" b="b" t="t" l="l"/>
            <a:pathLst>
              <a:path h="5863138" w="9631438">
                <a:moveTo>
                  <a:pt x="0" y="0"/>
                </a:moveTo>
                <a:lnTo>
                  <a:pt x="9631438" y="0"/>
                </a:lnTo>
                <a:lnTo>
                  <a:pt x="9631438" y="5863138"/>
                </a:lnTo>
                <a:lnTo>
                  <a:pt x="0" y="5863138"/>
                </a:lnTo>
                <a:lnTo>
                  <a:pt x="0" y="0"/>
                </a:lnTo>
                <a:close/>
              </a:path>
            </a:pathLst>
          </a:custGeom>
          <a:blipFill>
            <a:blip r:embed="rId5"/>
            <a:stretch>
              <a:fillRect l="0" t="0" r="0" b="0"/>
            </a:stretch>
          </a:blipFill>
        </p:spPr>
      </p:sp>
      <p:sp>
        <p:nvSpPr>
          <p:cNvPr name="TextBox 8" id="8"/>
          <p:cNvSpPr txBox="true"/>
          <p:nvPr/>
        </p:nvSpPr>
        <p:spPr>
          <a:xfrm rot="0">
            <a:off x="1145051" y="2743516"/>
            <a:ext cx="6382532" cy="5854065"/>
          </a:xfrm>
          <a:prstGeom prst="rect">
            <a:avLst/>
          </a:prstGeom>
        </p:spPr>
        <p:txBody>
          <a:bodyPr anchor="t" rtlCol="false" tIns="0" lIns="0" bIns="0" rIns="0">
            <a:spAutoFit/>
          </a:bodyPr>
          <a:lstStyle/>
          <a:p>
            <a:pPr algn="just">
              <a:lnSpc>
                <a:spcPts val="3359"/>
              </a:lnSpc>
            </a:pPr>
            <a:r>
              <a:rPr lang="en-US" sz="2399" spc="11">
                <a:solidFill>
                  <a:srgbClr val="181D2B"/>
                </a:solidFill>
                <a:latin typeface="Open Sauce"/>
                <a:ea typeface="Open Sauce"/>
                <a:cs typeface="Open Sauce"/>
                <a:sym typeface="Open Sauce"/>
              </a:rPr>
              <a:t>Thuật toán tối ưu hóa phân cụm không giám sát đã tự động gom 12 tháng thành 2 cụm rõ rệt:</a:t>
            </a:r>
          </a:p>
          <a:p>
            <a:pPr algn="l" marL="518158" indent="-259079" lvl="1">
              <a:lnSpc>
                <a:spcPts val="3359"/>
              </a:lnSpc>
              <a:buFont typeface="Arial"/>
              <a:buChar char="•"/>
            </a:pPr>
            <a:r>
              <a:rPr lang="en-US" sz="2399" spc="11">
                <a:solidFill>
                  <a:srgbClr val="181D2B"/>
                </a:solidFill>
                <a:latin typeface="Open Sauce"/>
                <a:ea typeface="Open Sauce"/>
                <a:cs typeface="Open Sauce"/>
                <a:sym typeface="Open Sauce"/>
              </a:rPr>
              <a:t>Cụm Ô nhiễm thấp/trung bình: Bao gồm các tháng mùa hè và thu (Tháng 5, 6, 7,8, 9,10).</a:t>
            </a:r>
          </a:p>
          <a:p>
            <a:pPr algn="l" marL="518158" indent="-259079" lvl="1">
              <a:lnSpc>
                <a:spcPts val="3359"/>
              </a:lnSpc>
              <a:buFont typeface="Arial"/>
              <a:buChar char="•"/>
            </a:pPr>
            <a:r>
              <a:rPr lang="en-US" sz="2399" spc="11">
                <a:solidFill>
                  <a:srgbClr val="181D2B"/>
                </a:solidFill>
                <a:latin typeface="Open Sauce"/>
                <a:ea typeface="Open Sauce"/>
                <a:cs typeface="Open Sauce"/>
                <a:sym typeface="Open Sauce"/>
              </a:rPr>
              <a:t>Cụm Ô nhiễm cao điểm: Bao gồm các tháng cuối năm, đông xuân (Tháng 11, 12, 1, 2, 3, 4).</a:t>
            </a:r>
          </a:p>
          <a:p>
            <a:pPr algn="just">
              <a:lnSpc>
                <a:spcPts val="3359"/>
              </a:lnSpc>
            </a:pPr>
          </a:p>
          <a:p>
            <a:pPr algn="just" marL="0" indent="0" lvl="0">
              <a:lnSpc>
                <a:spcPts val="3359"/>
              </a:lnSpc>
              <a:spcBef>
                <a:spcPct val="0"/>
              </a:spcBef>
            </a:pPr>
            <a:r>
              <a:rPr lang="en-US" b="true" sz="2399" i="true" spc="11">
                <a:solidFill>
                  <a:srgbClr val="181D2B"/>
                </a:solidFill>
                <a:latin typeface="Open Sauce Bold Italics"/>
                <a:ea typeface="Open Sauce Bold Italics"/>
                <a:cs typeface="Open Sauce Bold Italics"/>
                <a:sym typeface="Open Sauce Bold Italics"/>
              </a:rPr>
              <a:t>Như vậy, "Mùa ô nhiễm cao điểm" của thủ đô Hà Nội diễn ra liên tục từ khoảng cuối tháng 10 năm trước đến hết tháng 4 năm sau. </a:t>
            </a:r>
          </a:p>
        </p:txBody>
      </p:sp>
      <p:sp>
        <p:nvSpPr>
          <p:cNvPr name="TextBox 9" id="9"/>
          <p:cNvSpPr txBox="true"/>
          <p:nvPr/>
        </p:nvSpPr>
        <p:spPr>
          <a:xfrm rot="0">
            <a:off x="1028700" y="781050"/>
            <a:ext cx="12270325" cy="1038300"/>
          </a:xfrm>
          <a:prstGeom prst="rect">
            <a:avLst/>
          </a:prstGeom>
        </p:spPr>
        <p:txBody>
          <a:bodyPr anchor="t" rtlCol="false" tIns="0" lIns="0" bIns="0" rIns="0">
            <a:spAutoFit/>
          </a:bodyPr>
          <a:lstStyle/>
          <a:p>
            <a:pPr algn="l" marL="0" indent="0" lvl="0">
              <a:lnSpc>
                <a:spcPts val="7345"/>
              </a:lnSpc>
              <a:spcBef>
                <a:spcPct val="0"/>
              </a:spcBef>
            </a:pPr>
            <a:r>
              <a:rPr lang="en-US" b="true" sz="5247" strike="noStrike" u="none">
                <a:solidFill>
                  <a:srgbClr val="2B598F"/>
                </a:solidFill>
                <a:latin typeface="Agrandir Bold"/>
                <a:ea typeface="Agrandir Bold"/>
                <a:cs typeface="Agrandir Bold"/>
                <a:sym typeface="Agrandir Bold"/>
              </a:rPr>
              <a:t>Phân cụm mùa ô nhiễm bằng K-Means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8407547" y="248341"/>
            <a:ext cx="8666222" cy="12469263"/>
          </a:xfrm>
          <a:custGeom>
            <a:avLst/>
            <a:gdLst/>
            <a:ahLst/>
            <a:cxnLst/>
            <a:rect r="r" b="b" t="t" l="l"/>
            <a:pathLst>
              <a:path h="12469263" w="8666222">
                <a:moveTo>
                  <a:pt x="0" y="0"/>
                </a:moveTo>
                <a:lnTo>
                  <a:pt x="8666222" y="0"/>
                </a:lnTo>
                <a:lnTo>
                  <a:pt x="8666222" y="12469263"/>
                </a:lnTo>
                <a:lnTo>
                  <a:pt x="0" y="12469263"/>
                </a:lnTo>
                <a:lnTo>
                  <a:pt x="0" y="0"/>
                </a:lnTo>
                <a:close/>
              </a:path>
            </a:pathLst>
          </a:custGeom>
          <a:blipFill>
            <a:blip r:embed="rId2"/>
            <a:stretch>
              <a:fillRect l="0" t="0" r="0" b="0"/>
            </a:stretch>
          </a:blipFill>
        </p:spPr>
      </p:sp>
      <p:sp>
        <p:nvSpPr>
          <p:cNvPr name="Freeform 3" id="3"/>
          <p:cNvSpPr/>
          <p:nvPr/>
        </p:nvSpPr>
        <p:spPr>
          <a:xfrm flipH="false" flipV="false" rot="0">
            <a:off x="12102336" y="1402723"/>
            <a:ext cx="5156964" cy="7250564"/>
          </a:xfrm>
          <a:custGeom>
            <a:avLst/>
            <a:gdLst/>
            <a:ahLst/>
            <a:cxnLst/>
            <a:rect r="r" b="b" t="t" l="l"/>
            <a:pathLst>
              <a:path h="7250564" w="5156964">
                <a:moveTo>
                  <a:pt x="0" y="0"/>
                </a:moveTo>
                <a:lnTo>
                  <a:pt x="5156964" y="0"/>
                </a:lnTo>
                <a:lnTo>
                  <a:pt x="5156964" y="7250564"/>
                </a:lnTo>
                <a:lnTo>
                  <a:pt x="0" y="7250564"/>
                </a:lnTo>
                <a:lnTo>
                  <a:pt x="0" y="0"/>
                </a:lnTo>
                <a:close/>
              </a:path>
            </a:pathLst>
          </a:custGeom>
          <a:blipFill>
            <a:blip r:embed="rId3"/>
            <a:stretch>
              <a:fillRect l="0" t="0" r="0" b="0"/>
            </a:stretch>
          </a:blipFill>
        </p:spPr>
      </p:sp>
      <p:sp>
        <p:nvSpPr>
          <p:cNvPr name="TextBox 4" id="4"/>
          <p:cNvSpPr txBox="true"/>
          <p:nvPr/>
        </p:nvSpPr>
        <p:spPr>
          <a:xfrm rot="0">
            <a:off x="1028700" y="704850"/>
            <a:ext cx="11496725" cy="1384300"/>
          </a:xfrm>
          <a:prstGeom prst="rect">
            <a:avLst/>
          </a:prstGeom>
        </p:spPr>
        <p:txBody>
          <a:bodyPr anchor="t" rtlCol="false" tIns="0" lIns="0" bIns="0" rIns="0">
            <a:spAutoFit/>
          </a:bodyPr>
          <a:lstStyle/>
          <a:p>
            <a:pPr algn="l" marL="0" indent="0" lvl="0">
              <a:lnSpc>
                <a:spcPts val="9799"/>
              </a:lnSpc>
              <a:spcBef>
                <a:spcPct val="0"/>
              </a:spcBef>
            </a:pPr>
            <a:r>
              <a:rPr lang="en-US" b="true" sz="6999">
                <a:solidFill>
                  <a:srgbClr val="2B598F"/>
                </a:solidFill>
                <a:latin typeface="Agrandir Bold"/>
                <a:ea typeface="Agrandir Bold"/>
                <a:cs typeface="Agrandir Bold"/>
                <a:sym typeface="Agrandir Bold"/>
              </a:rPr>
              <a:t>Kết luận</a:t>
            </a:r>
          </a:p>
        </p:txBody>
      </p:sp>
      <p:sp>
        <p:nvSpPr>
          <p:cNvPr name="TextBox 5" id="5"/>
          <p:cNvSpPr txBox="true"/>
          <p:nvPr/>
        </p:nvSpPr>
        <p:spPr>
          <a:xfrm rot="0">
            <a:off x="1028700" y="2279325"/>
            <a:ext cx="10336362" cy="5988050"/>
          </a:xfrm>
          <a:prstGeom prst="rect">
            <a:avLst/>
          </a:prstGeom>
        </p:spPr>
        <p:txBody>
          <a:bodyPr anchor="t" rtlCol="false" tIns="0" lIns="0" bIns="0" rIns="0">
            <a:spAutoFit/>
          </a:bodyPr>
          <a:lstStyle/>
          <a:p>
            <a:pPr algn="just">
              <a:lnSpc>
                <a:spcPts val="2800"/>
              </a:lnSpc>
            </a:pPr>
            <a:r>
              <a:rPr lang="en-US" b="true" sz="2000" spc="10">
                <a:solidFill>
                  <a:srgbClr val="181D2B"/>
                </a:solidFill>
                <a:latin typeface="Open Sauce Bold"/>
                <a:ea typeface="Open Sauce Bold"/>
                <a:cs typeface="Open Sauce Bold"/>
                <a:sym typeface="Open Sauce Bold"/>
              </a:rPr>
              <a:t>Thông qua bài tiểu luận môn Khoa học dữ liệu, em đã hoàn thành các mục tiêu đặt ra ban đầu:</a:t>
            </a:r>
          </a:p>
          <a:p>
            <a:pPr algn="just">
              <a:lnSpc>
                <a:spcPts val="2800"/>
              </a:lnSpc>
            </a:pPr>
          </a:p>
          <a:p>
            <a:pPr algn="just" marL="431801" indent="-215900" lvl="1">
              <a:lnSpc>
                <a:spcPts val="2800"/>
              </a:lnSpc>
              <a:buFont typeface="Arial"/>
              <a:buChar char="•"/>
            </a:pPr>
            <a:r>
              <a:rPr lang="en-US" b="true" sz="2000" spc="10">
                <a:solidFill>
                  <a:srgbClr val="181D2B"/>
                </a:solidFill>
                <a:latin typeface="Open Sauce Bold"/>
                <a:ea typeface="Open Sauce Bold"/>
                <a:cs typeface="Open Sauce Bold"/>
                <a:sym typeface="Open Sauce Bold"/>
              </a:rPr>
              <a:t>Về mặt kỹ thuật: Xây dựng thành công quy trình xử lý dữ liệu, phân tích khám phá dữ liệu và áp dụng kiểm định giả thuyết thống kê, các thuật toán học máy từ phân cụm (KMeans) đến dự báo (SARIMAX).</a:t>
            </a:r>
          </a:p>
          <a:p>
            <a:pPr algn="just">
              <a:lnSpc>
                <a:spcPts val="2800"/>
              </a:lnSpc>
            </a:pPr>
          </a:p>
          <a:p>
            <a:pPr algn="just" marL="431801" indent="-215900" lvl="1">
              <a:lnSpc>
                <a:spcPts val="2800"/>
              </a:lnSpc>
              <a:buFont typeface="Arial"/>
              <a:buChar char="•"/>
            </a:pPr>
            <a:r>
              <a:rPr lang="en-US" b="true" sz="2000" spc="10">
                <a:solidFill>
                  <a:srgbClr val="181D2B"/>
                </a:solidFill>
                <a:latin typeface="Open Sauce Bold"/>
                <a:ea typeface="Open Sauce Bold"/>
                <a:cs typeface="Open Sauce Bold"/>
                <a:sym typeface="Open Sauce Bold"/>
              </a:rPr>
              <a:t>Về mặt thực tiễn nhận thức: Chứng minh được bằng dữ liệu thực tế thực trạng ô nhiễm đang tăng dần theo các năm tại Hà Nội; định vị chính xác khung giờ ô nhiễm cao trong ngày (giờ cao điểm sáng và đêm muộn).</a:t>
            </a:r>
          </a:p>
          <a:p>
            <a:pPr algn="just" marL="0" indent="0" lvl="0">
              <a:lnSpc>
                <a:spcPts val="2800"/>
              </a:lnSpc>
              <a:spcBef>
                <a:spcPct val="0"/>
              </a:spcBef>
            </a:pPr>
          </a:p>
          <a:p>
            <a:pPr algn="just" marL="0" indent="0" lvl="0">
              <a:lnSpc>
                <a:spcPts val="2800"/>
              </a:lnSpc>
              <a:spcBef>
                <a:spcPct val="0"/>
              </a:spcBef>
            </a:pPr>
            <a:r>
              <a:rPr lang="en-US" b="true" sz="2000" spc="10" strike="noStrike" u="none">
                <a:solidFill>
                  <a:srgbClr val="181D2B"/>
                </a:solidFill>
                <a:latin typeface="Open Sauce Bold"/>
                <a:ea typeface="Open Sauce Bold"/>
                <a:cs typeface="Open Sauce Bold"/>
                <a:sym typeface="Open Sauce Bold"/>
              </a:rPr>
              <a:t>Đề tài đã cung cấp bằng chứng khoa học về diễn biến ô nhiễm không khí tại Hà Nội giai đoạn 2022–2025.</a:t>
            </a:r>
          </a:p>
          <a:p>
            <a:pPr algn="just" marL="0" indent="0" lvl="0">
              <a:lnSpc>
                <a:spcPts val="2800"/>
              </a:lnSpc>
              <a:spcBef>
                <a:spcPct val="0"/>
              </a:spcBef>
            </a:pPr>
          </a:p>
          <a:p>
            <a:pPr algn="just" marL="431801" indent="-215900" lvl="1">
              <a:lnSpc>
                <a:spcPts val="2800"/>
              </a:lnSpc>
              <a:buFont typeface="Arial"/>
              <a:buChar char="•"/>
            </a:pPr>
            <a:r>
              <a:rPr lang="en-US" b="true" sz="2000" spc="10" strike="noStrike" u="none">
                <a:solidFill>
                  <a:srgbClr val="181D2B"/>
                </a:solidFill>
                <a:latin typeface="Open Sauce Bold"/>
                <a:ea typeface="Open Sauce Bold"/>
                <a:cs typeface="Open Sauce Bold"/>
                <a:sym typeface="Open Sauce Bold"/>
              </a:rPr>
              <a:t>Hỗ trợ người dân nhận biết các khung giờ và mùa ô nhiễm cao để chủ động bảo vệ sức khỏe.</a:t>
            </a:r>
          </a:p>
          <a:p>
            <a:pPr algn="just" marL="431801" indent="-215900" lvl="1">
              <a:lnSpc>
                <a:spcPts val="2800"/>
              </a:lnSpc>
              <a:buFont typeface="Arial"/>
              <a:buChar char="•"/>
            </a:pPr>
            <a:r>
              <a:rPr lang="en-US" b="true" sz="2000" spc="10" strike="noStrike" u="none">
                <a:solidFill>
                  <a:srgbClr val="181D2B"/>
                </a:solidFill>
                <a:latin typeface="Open Sauce Bold"/>
                <a:ea typeface="Open Sauce Bold"/>
                <a:cs typeface="Open Sauce Bold"/>
                <a:sym typeface="Open Sauce Bold"/>
              </a:rPr>
              <a:t>Giúp nhà quản lý môi trường nắm bắt thông tin khi AQI vượt ngưỡng nguy hại.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EFF"/>
        </a:solidFill>
      </p:bgPr>
    </p:bg>
    <p:spTree>
      <p:nvGrpSpPr>
        <p:cNvPr id="1" name=""/>
        <p:cNvGrpSpPr/>
        <p:nvPr/>
      </p:nvGrpSpPr>
      <p:grpSpPr>
        <a:xfrm>
          <a:off x="0" y="0"/>
          <a:ext cx="0" cy="0"/>
          <a:chOff x="0" y="0"/>
          <a:chExt cx="0" cy="0"/>
        </a:xfrm>
      </p:grpSpPr>
      <p:sp>
        <p:nvSpPr>
          <p:cNvPr name="Freeform 2" id="2"/>
          <p:cNvSpPr/>
          <p:nvPr/>
        </p:nvSpPr>
        <p:spPr>
          <a:xfrm flipH="false" flipV="false" rot="0">
            <a:off x="11859442" y="8121257"/>
            <a:ext cx="429652" cy="429652"/>
          </a:xfrm>
          <a:custGeom>
            <a:avLst/>
            <a:gdLst/>
            <a:ahLst/>
            <a:cxnLst/>
            <a:rect r="r" b="b" t="t" l="l"/>
            <a:pathLst>
              <a:path h="429652" w="429652">
                <a:moveTo>
                  <a:pt x="0" y="0"/>
                </a:moveTo>
                <a:lnTo>
                  <a:pt x="429652" y="0"/>
                </a:lnTo>
                <a:lnTo>
                  <a:pt x="429652" y="429653"/>
                </a:lnTo>
                <a:lnTo>
                  <a:pt x="0" y="429653"/>
                </a:lnTo>
                <a:lnTo>
                  <a:pt x="0" y="0"/>
                </a:lnTo>
                <a:close/>
              </a:path>
            </a:pathLst>
          </a:custGeom>
          <a:blipFill>
            <a:blip r:embed="rId2">
              <a:extLst>
                <a:ext uri="{96DAC541-7B7A-43D3-8B79-37D633B846F1}">
                  <asvg:svgBlip xmlns:asvg="http://schemas.microsoft.com/office/drawing/2016/SVG/main" r:embed="rId3"/>
                </a:ext>
              </a:extLst>
            </a:blip>
            <a:stretch>
              <a:fillRect l="-139655" t="0" r="-139655" b="0"/>
            </a:stretch>
          </a:blipFill>
        </p:spPr>
      </p:sp>
      <p:sp>
        <p:nvSpPr>
          <p:cNvPr name="Freeform 3" id="3"/>
          <p:cNvSpPr/>
          <p:nvPr/>
        </p:nvSpPr>
        <p:spPr>
          <a:xfrm flipH="false" flipV="false" rot="0">
            <a:off x="12073752" y="8152505"/>
            <a:ext cx="537066" cy="367158"/>
          </a:xfrm>
          <a:custGeom>
            <a:avLst/>
            <a:gdLst/>
            <a:ahLst/>
            <a:cxnLst/>
            <a:rect r="r" b="b" t="t" l="l"/>
            <a:pathLst>
              <a:path h="367158" w="537066">
                <a:moveTo>
                  <a:pt x="0" y="0"/>
                </a:moveTo>
                <a:lnTo>
                  <a:pt x="537065" y="0"/>
                </a:lnTo>
                <a:lnTo>
                  <a:pt x="537065" y="367158"/>
                </a:lnTo>
                <a:lnTo>
                  <a:pt x="0" y="3671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859442" y="7454326"/>
            <a:ext cx="429652" cy="429652"/>
          </a:xfrm>
          <a:custGeom>
            <a:avLst/>
            <a:gdLst/>
            <a:ahLst/>
            <a:cxnLst/>
            <a:rect r="r" b="b" t="t" l="l"/>
            <a:pathLst>
              <a:path h="429652" w="429652">
                <a:moveTo>
                  <a:pt x="0" y="0"/>
                </a:moveTo>
                <a:lnTo>
                  <a:pt x="429652" y="0"/>
                </a:lnTo>
                <a:lnTo>
                  <a:pt x="429652" y="429653"/>
                </a:lnTo>
                <a:lnTo>
                  <a:pt x="0" y="429653"/>
                </a:lnTo>
                <a:lnTo>
                  <a:pt x="0" y="0"/>
                </a:lnTo>
                <a:close/>
              </a:path>
            </a:pathLst>
          </a:custGeom>
          <a:blipFill>
            <a:blip r:embed="rId2">
              <a:extLst>
                <a:ext uri="{96DAC541-7B7A-43D3-8B79-37D633B846F1}">
                  <asvg:svgBlip xmlns:asvg="http://schemas.microsoft.com/office/drawing/2016/SVG/main" r:embed="rId3"/>
                </a:ext>
              </a:extLst>
            </a:blip>
            <a:stretch>
              <a:fillRect l="-139655" t="0" r="-139655" b="0"/>
            </a:stretch>
          </a:blipFill>
        </p:spPr>
      </p:sp>
      <p:sp>
        <p:nvSpPr>
          <p:cNvPr name="Freeform 5" id="5"/>
          <p:cNvSpPr/>
          <p:nvPr/>
        </p:nvSpPr>
        <p:spPr>
          <a:xfrm flipH="false" flipV="false" rot="0">
            <a:off x="12073752" y="7400620"/>
            <a:ext cx="537066" cy="537066"/>
          </a:xfrm>
          <a:custGeom>
            <a:avLst/>
            <a:gdLst/>
            <a:ahLst/>
            <a:cxnLst/>
            <a:rect r="r" b="b" t="t" l="l"/>
            <a:pathLst>
              <a:path h="537066" w="537066">
                <a:moveTo>
                  <a:pt x="0" y="0"/>
                </a:moveTo>
                <a:lnTo>
                  <a:pt x="537065" y="0"/>
                </a:lnTo>
                <a:lnTo>
                  <a:pt x="537065" y="537065"/>
                </a:lnTo>
                <a:lnTo>
                  <a:pt x="0" y="5370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31290" y="1560604"/>
            <a:ext cx="6560653" cy="6560653"/>
          </a:xfrm>
          <a:custGeom>
            <a:avLst/>
            <a:gdLst/>
            <a:ahLst/>
            <a:cxnLst/>
            <a:rect r="r" b="b" t="t" l="l"/>
            <a:pathLst>
              <a:path h="6560653" w="6560653">
                <a:moveTo>
                  <a:pt x="0" y="0"/>
                </a:moveTo>
                <a:lnTo>
                  <a:pt x="6560653" y="0"/>
                </a:lnTo>
                <a:lnTo>
                  <a:pt x="6560653" y="6560653"/>
                </a:lnTo>
                <a:lnTo>
                  <a:pt x="0" y="65606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7" id="7"/>
          <p:cNvSpPr txBox="true"/>
          <p:nvPr/>
        </p:nvSpPr>
        <p:spPr>
          <a:xfrm rot="0">
            <a:off x="2865666" y="3032354"/>
            <a:ext cx="14152457" cy="1993901"/>
          </a:xfrm>
          <a:prstGeom prst="rect">
            <a:avLst/>
          </a:prstGeom>
        </p:spPr>
        <p:txBody>
          <a:bodyPr anchor="t" rtlCol="false" tIns="0" lIns="0" bIns="0" rIns="0">
            <a:spAutoFit/>
          </a:bodyPr>
          <a:lstStyle/>
          <a:p>
            <a:pPr algn="l" marL="0" indent="0" lvl="0">
              <a:lnSpc>
                <a:spcPts val="13999"/>
              </a:lnSpc>
              <a:spcBef>
                <a:spcPct val="0"/>
              </a:spcBef>
            </a:pPr>
            <a:r>
              <a:rPr lang="en-US" b="true" sz="9999" strike="noStrike" u="none">
                <a:solidFill>
                  <a:srgbClr val="2B598F"/>
                </a:solidFill>
                <a:latin typeface="Agrandir Bold"/>
                <a:ea typeface="Agrandir Bold"/>
                <a:cs typeface="Agrandir Bold"/>
                <a:sym typeface="Agrandir Bold"/>
              </a:rPr>
              <a:t>Cảm ơn!</a:t>
            </a:r>
          </a:p>
        </p:txBody>
      </p:sp>
      <p:sp>
        <p:nvSpPr>
          <p:cNvPr name="TextBox 8" id="8"/>
          <p:cNvSpPr txBox="true"/>
          <p:nvPr/>
        </p:nvSpPr>
        <p:spPr>
          <a:xfrm rot="0">
            <a:off x="12863661" y="7201974"/>
            <a:ext cx="5071885" cy="2049345"/>
          </a:xfrm>
          <a:prstGeom prst="rect">
            <a:avLst/>
          </a:prstGeom>
        </p:spPr>
        <p:txBody>
          <a:bodyPr anchor="t" rtlCol="false" tIns="0" lIns="0" bIns="0" rIns="0">
            <a:spAutoFit/>
          </a:bodyPr>
          <a:lstStyle/>
          <a:p>
            <a:pPr algn="l" marL="0" indent="0" lvl="0">
              <a:lnSpc>
                <a:spcPts val="5596"/>
              </a:lnSpc>
            </a:pPr>
            <a:r>
              <a:rPr lang="en-US" sz="2798" spc="-55">
                <a:solidFill>
                  <a:srgbClr val="181D2B"/>
                </a:solidFill>
                <a:latin typeface="Open Sauce"/>
                <a:ea typeface="Open Sauce"/>
                <a:cs typeface="Open Sauce"/>
                <a:sym typeface="Open Sauce"/>
              </a:rPr>
              <a:t>Nguyễn Trung Hiếu</a:t>
            </a:r>
          </a:p>
          <a:p>
            <a:pPr algn="l" marL="0" indent="0" lvl="0">
              <a:lnSpc>
                <a:spcPts val="5596"/>
              </a:lnSpc>
            </a:pPr>
            <a:r>
              <a:rPr lang="en-US" sz="2798" spc="-55">
                <a:solidFill>
                  <a:srgbClr val="181D2B"/>
                </a:solidFill>
                <a:latin typeface="Open Sauce"/>
                <a:ea typeface="Open Sauce"/>
                <a:cs typeface="Open Sauce"/>
                <a:sym typeface="Open Sauce"/>
              </a:rPr>
              <a:t>k225480106019@tnut.edu.vn</a:t>
            </a:r>
          </a:p>
          <a:p>
            <a:pPr algn="l" marL="0" indent="0" lvl="0">
              <a:lnSpc>
                <a:spcPts val="5596"/>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DAHMQbslGrs</dc:identifier>
  <dcterms:modified xsi:type="dcterms:W3CDTF">2011-08-01T06:04:30Z</dcterms:modified>
  <cp:revision>1</cp:revision>
  <dc:title>Phân tích diễn biến và dự báo AQI Hà Nội 2022-2025</dc:title>
</cp:coreProperties>
</file>